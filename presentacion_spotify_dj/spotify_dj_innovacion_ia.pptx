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abf9c16fc84cbf" /><Relationship Type="http://schemas.openxmlformats.org/officeDocument/2006/relationships/extended-properties" Target="/docProps/app.xml" Id="R88c071bfbf804540" /><Relationship Type="http://schemas.openxmlformats.org/officeDocument/2006/relationships/officeDocument" Target="/ppt/presentation.xml" Id="Ra528959ffaa84a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fa610afb574758"/>
  </p:sldMasterIdLst>
  <p:notesMasterIdLst>
    <p:notesMasterId xmlns:r="http://schemas.openxmlformats.org/officeDocument/2006/relationships" r:id="Rc8525646f6424b83"/>
  </p:notesMasterIdLst>
  <p:sldIdLst>
    <p:sldId xmlns:r="http://schemas.openxmlformats.org/officeDocument/2006/relationships" id="256" r:id="R7392780814144de1"/>
    <p:sldId xmlns:r="http://schemas.openxmlformats.org/officeDocument/2006/relationships" id="257" r:id="Rfe29638b814f4986"/>
    <p:sldId xmlns:r="http://schemas.openxmlformats.org/officeDocument/2006/relationships" id="258" r:id="Rdf76a182088d43ba"/>
    <p:sldId xmlns:r="http://schemas.openxmlformats.org/officeDocument/2006/relationships" id="259" r:id="Rcd6efea219bf4ca0"/>
    <p:sldId xmlns:r="http://schemas.openxmlformats.org/officeDocument/2006/relationships" id="260" r:id="Re57df97f58de47ca"/>
    <p:sldId xmlns:r="http://schemas.openxmlformats.org/officeDocument/2006/relationships" id="261" r:id="R36a763d98d3c4339"/>
    <p:sldId xmlns:r="http://schemas.openxmlformats.org/officeDocument/2006/relationships" id="262" r:id="R4f45b63dd13e48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a610afb574758" /><Relationship Type="http://schemas.openxmlformats.org/officeDocument/2006/relationships/theme" Target="/ppt/theme/theme1.xml" Id="R138a9a15f2b143fa" /><Relationship Type="http://schemas.openxmlformats.org/officeDocument/2006/relationships/notesMaster" Target="/ppt/notesMasters/notesMaster1.xml" Id="Rc8525646f6424b83" /><Relationship Type="http://schemas.openxmlformats.org/officeDocument/2006/relationships/presProps" Target="/ppt/presProps.xml" Id="Ra9dfa28279134c38" /><Relationship Type="http://schemas.openxmlformats.org/officeDocument/2006/relationships/viewProps" Target="/ppt/viewProps.xml" Id="R597ab2dfb2154335" /><Relationship Type="http://schemas.openxmlformats.org/officeDocument/2006/relationships/tableStyles" Target="/ppt/tableStyles.xml" Id="R93111cb41d5c4f45" /><Relationship Type="http://schemas.openxmlformats.org/officeDocument/2006/relationships/slide" Target="/ppt/slides/slide1.xml" Id="R7392780814144de1" /><Relationship Type="http://schemas.openxmlformats.org/officeDocument/2006/relationships/slide" Target="/ppt/slides/slide2.xml" Id="Rfe29638b814f4986" /><Relationship Type="http://schemas.openxmlformats.org/officeDocument/2006/relationships/slide" Target="/ppt/slides/slide3.xml" Id="Rdf76a182088d43ba" /><Relationship Type="http://schemas.openxmlformats.org/officeDocument/2006/relationships/slide" Target="/ppt/slides/slide4.xml" Id="Rcd6efea219bf4ca0" /><Relationship Type="http://schemas.openxmlformats.org/officeDocument/2006/relationships/slide" Target="/ppt/slides/slide5.xml" Id="Re57df97f58de47ca" /><Relationship Type="http://schemas.openxmlformats.org/officeDocument/2006/relationships/slide" Target="/ppt/slides/slide6.xml" Id="R36a763d98d3c4339" /><Relationship Type="http://schemas.openxmlformats.org/officeDocument/2006/relationships/slide" Target="/ppt/slides/slide7.xml" Id="R4f45b63dd13e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2a046390c648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893170215d43f6" /><Relationship Type="http://schemas.openxmlformats.org/officeDocument/2006/relationships/notesMaster" Target="/ppt/notesMasters/notesMaster1.xml" Id="Rc985fcd76e4c4f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1cc3e735ce47b6" /><Relationship Type="http://schemas.openxmlformats.org/officeDocument/2006/relationships/notesMaster" Target="/ppt/notesMasters/notesMaster1.xml" Id="R31b829dbc60140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1c8b5f684746d8" /><Relationship Type="http://schemas.openxmlformats.org/officeDocument/2006/relationships/notesMaster" Target="/ppt/notesMasters/notesMaster1.xml" Id="R180cb8bdb7714c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173192b244c8b" /><Relationship Type="http://schemas.openxmlformats.org/officeDocument/2006/relationships/notesMaster" Target="/ppt/notesMasters/notesMaster1.xml" Id="R32a15bb86d5342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9a549ba3e948c9" /><Relationship Type="http://schemas.openxmlformats.org/officeDocument/2006/relationships/notesMaster" Target="/ppt/notesMasters/notesMaster1.xml" Id="R76ea4cf880e54a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e1bb06911844d2" /><Relationship Type="http://schemas.openxmlformats.org/officeDocument/2006/relationships/notesMaster" Target="/ppt/notesMasters/notesMaster1.xml" Id="R1b2579f04e7245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81108cd0614da7" /><Relationship Type="http://schemas.openxmlformats.org/officeDocument/2006/relationships/notesMaster" Target="/ppt/notesMasters/notesMaster1.xml" Id="R210f808a5db54d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ac0bf984847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119a3fc912e4658" /><Relationship Type="http://schemas.openxmlformats.org/officeDocument/2006/relationships/slideLayout" Target="/ppt/slideLayouts/slideLayout2.xml" Id="R2d862fb2776e4e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62fb2776e4e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ab6836f7394b0d" /><Relationship Type="http://schemas.openxmlformats.org/officeDocument/2006/relationships/image" Target="/ppt/media/image.png" Id="R0eb138237857402f" /><Relationship Type="http://schemas.openxmlformats.org/officeDocument/2006/relationships/notesSlide" Target="/ppt/notesSlides/notesSlide1.xml" Id="R66bc87e06ff04a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d591444394681" /><Relationship Type="http://schemas.openxmlformats.org/officeDocument/2006/relationships/notesSlide" Target="/ppt/notesSlides/notesSlide2.xml" Id="R38c5ede8ed50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2ebe7346e74ff5" /><Relationship Type="http://schemas.openxmlformats.org/officeDocument/2006/relationships/notesSlide" Target="/ppt/notesSlides/notesSlide3.xml" Id="R4149f20d15a542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8c33fec5fb4c2b" /><Relationship Type="http://schemas.openxmlformats.org/officeDocument/2006/relationships/notesSlide" Target="/ppt/notesSlides/notesSlide4.xml" Id="R85a880a7a81746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57abd5f4254f09" /><Relationship Type="http://schemas.openxmlformats.org/officeDocument/2006/relationships/notesSlide" Target="/ppt/notesSlides/notesSlide5.xml" Id="R1806b17e14334c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bb7dd500b14b9d" /><Relationship Type="http://schemas.openxmlformats.org/officeDocument/2006/relationships/notesSlide" Target="/ppt/notesSlides/notesSlide6.xml" Id="R781b908c3ca5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3967d65f2d4ac2" /><Relationship Type="http://schemas.openxmlformats.org/officeDocument/2006/relationships/notesSlide" Target="/ppt/notesSlides/notesSlide7.xml" Id="Rcd2bea601a3e45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77D2259-1392-493F-A4D5-B38F601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C"/>
          </a:solidFill>
        </p:spPr>
      </p:sp>
      <p:pic>
        <p:nvPicPr>
          <p:cNvPr id="2" name="cover-promotional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138237857402f"/>
          <a:srcRect xmlns:a="http://schemas.openxmlformats.org/drawingml/2006/main" l="0" t="610" r="0" b="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bottom-plate">
            <a:extLst xmlns:a="http://schemas.openxmlformats.org/drawingml/2006/main">
              <a:ext uri="{FF2B5EF4-FFF2-40B4-BE49-F238E27FC236}">
                <a16:creationId xmlns:a16="http://schemas.microsoft.com/office/drawing/2014/main" id="{2C1240CD-5318-479B-B852-0EA91A89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9">
              <a:alpha val="86000"/>
            </a:srgbClr>
          </a:solidFill>
        </p:spPr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A33458A-E3A8-4C7E-B86E-F342979F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A536889-66E3-4C83-B7E2-7D2DCE9A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04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Spotify DJ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FAB89D2-15A3-44F1-8AE7-01EF9A1F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Cuando la recomendación dejó de ser silenciosa</a:t>
            </a:r>
          </a:p>
        </p:txBody>
      </p:sp>
      <p:sp>
        <p:nvSpPr>
          <p:cNvPr id="7" name="cover-authors">
            <a:extLst xmlns:a="http://schemas.openxmlformats.org/drawingml/2006/main">
              <a:ext uri="{FF2B5EF4-FFF2-40B4-BE49-F238E27FC236}">
                <a16:creationId xmlns:a16="http://schemas.microsoft.com/office/drawing/2014/main" id="{7579C2B3-21BE-4AFF-B868-9EAD2F01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Santi Fernández  ·  Berni Llorens  ·  Roger Garcia</a:t>
            </a:r>
          </a:p>
        </p:txBody>
      </p:sp>
      <p:sp>
        <p:nvSpPr>
          <p:cNvPr id="8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E594D548-9DC7-497B-AC00-CAADE5E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67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Innovación en IA</a:t>
            </a:r>
          </a:p>
        </p:txBody>
      </p:sp>
    </p:spTree>
    <p:extLst>
      <p:ext uri="{BB962C8B-B14F-4D97-AF65-F5344CB8AC3E}">
        <p14:creationId xmlns:p14="http://schemas.microsoft.com/office/powerpoint/2010/main" val="655872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E8C9CAE-FDC8-4E27-BC27-0A3ED78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C"/>
          </a:solidFill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A9804F8-C2C0-49BE-B632-0765B6B4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0C9CE3B3-2B89-4DD9-AEFB-4F8B2084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LA EXPERIENCIA</a:t>
            </a:r>
          </a:p>
        </p:txBody>
      </p:sp>
      <p:sp>
        <p:nvSpPr>
          <p:cNvPr id="4" name="title-02">
            <a:extLst xmlns:a="http://schemas.openxmlformats.org/drawingml/2006/main">
              <a:ext uri="{FF2B5EF4-FFF2-40B4-BE49-F238E27FC236}">
                <a16:creationId xmlns:a16="http://schemas.microsoft.com/office/drawing/2014/main" id="{C6120AFE-B4D0-44A8-8B81-9E347916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Spotify DJ no crea una playlist: construye una sesión narrada.</a:t>
            </a:r>
          </a:p>
        </p:txBody>
      </p:sp>
      <p:sp>
        <p:nvSpPr>
          <p:cNvPr id="5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CFF1578C-CA57-44AE-A84E-9C707BF8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6736C"/>
                </a:solidFill>
                <a:latin typeface="Arial Narrow"/>
                <a:ea typeface="Arial Narrow"/>
                <a:cs typeface="Arial Narrow"/>
              </a:defRPr>
            </a:pPr>
            <a:r>
              <a:t>ANTES</a:t>
            </a:r>
          </a:p>
        </p:txBody>
      </p:sp>
      <p:sp>
        <p:nvSpPr>
          <p:cNvPr id="6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AF72EC56-F633-431A-9C2B-B1B2EAE0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Recomendación silenciosa</a:t>
            </a:r>
          </a:p>
        </p:txBody>
      </p:sp>
      <p:sp>
        <p:nvSpPr>
          <p:cNvPr id="7" name="before-body">
            <a:extLst xmlns:a="http://schemas.openxmlformats.org/drawingml/2006/main">
              <a:ext uri="{FF2B5EF4-FFF2-40B4-BE49-F238E27FC236}">
                <a16:creationId xmlns:a16="http://schemas.microsoft.com/office/drawing/2014/main" id="{D5C087E7-3A5F-4188-8A38-1E411B7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714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Una lista personalizada decide qué canciones mostrar, pero el algoritmo permanece invisible.</a:t>
            </a:r>
          </a:p>
        </p:txBody>
      </p:sp>
      <p:sp>
        <p:nvSpPr>
          <p:cNvPr id="8" name="before-baseline">
            <a:extLst xmlns:a="http://schemas.openxmlformats.org/drawingml/2006/main">
              <a:ext uri="{FF2B5EF4-FFF2-40B4-BE49-F238E27FC236}">
                <a16:creationId xmlns:a16="http://schemas.microsoft.com/office/drawing/2014/main" id="{0FB56D69-CDCA-4F46-9736-7B88BAE8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58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9" name="before-track-0">
            <a:extLst xmlns:a="http://schemas.openxmlformats.org/drawingml/2006/main">
              <a:ext uri="{FF2B5EF4-FFF2-40B4-BE49-F238E27FC236}">
                <a16:creationId xmlns:a16="http://schemas.microsoft.com/office/drawing/2014/main" id="{6FEAFA1E-1422-48FE-A1CD-A4A7384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C"/>
          </a:solidFill>
        </p:spPr>
      </p:sp>
      <p:sp>
        <p:nvSpPr>
          <p:cNvPr id="10" name="before-track-1">
            <a:extLst xmlns:a="http://schemas.openxmlformats.org/drawingml/2006/main">
              <a:ext uri="{FF2B5EF4-FFF2-40B4-BE49-F238E27FC236}">
                <a16:creationId xmlns:a16="http://schemas.microsoft.com/office/drawing/2014/main" id="{EE7C3757-29EB-4326-8CBD-5926A373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C"/>
          </a:solidFill>
        </p:spPr>
      </p:sp>
      <p:sp>
        <p:nvSpPr>
          <p:cNvPr id="11" name="before-track-2">
            <a:extLst xmlns:a="http://schemas.openxmlformats.org/drawingml/2006/main">
              <a:ext uri="{FF2B5EF4-FFF2-40B4-BE49-F238E27FC236}">
                <a16:creationId xmlns:a16="http://schemas.microsoft.com/office/drawing/2014/main" id="{11EC8527-2319-4E6D-A407-36522991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767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C"/>
          </a:solidFill>
        </p:spPr>
      </p:sp>
      <p:sp>
        <p:nvSpPr>
          <p:cNvPr id="12" name="before-track-3">
            <a:extLst xmlns:a="http://schemas.openxmlformats.org/drawingml/2006/main">
              <a:ext uri="{FF2B5EF4-FFF2-40B4-BE49-F238E27FC236}">
                <a16:creationId xmlns:a16="http://schemas.microsoft.com/office/drawing/2014/main" id="{3C08FFF0-3415-498E-9C7D-9393525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C"/>
          </a:solidFill>
        </p:spPr>
      </p:sp>
      <p:sp>
        <p:nvSpPr>
          <p:cNvPr id="13" name="before-track-4">
            <a:extLst xmlns:a="http://schemas.openxmlformats.org/drawingml/2006/main">
              <a:ext uri="{FF2B5EF4-FFF2-40B4-BE49-F238E27FC236}">
                <a16:creationId xmlns:a16="http://schemas.microsoft.com/office/drawing/2014/main" id="{C197EDEA-BAF0-4C5D-98A0-98596794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4815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C"/>
          </a:solidFill>
        </p:spPr>
      </p:sp>
      <p:sp>
        <p:nvSpPr>
          <p:cNvPr id="14" name="experience-shift:from-anchor">
            <a:extLst xmlns:a="http://schemas.openxmlformats.org/drawingml/2006/main">
              <a:ext uri="{FF2B5EF4-FFF2-40B4-BE49-F238E27FC236}">
                <a16:creationId xmlns:a16="http://schemas.microsoft.com/office/drawing/2014/main" id="{EE19CF30-BB95-49A2-A695-17F897C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38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experience-shift:to-anchor">
            <a:extLst xmlns:a="http://schemas.openxmlformats.org/drawingml/2006/main">
              <a:ext uri="{FF2B5EF4-FFF2-40B4-BE49-F238E27FC236}">
                <a16:creationId xmlns:a16="http://schemas.microsoft.com/office/drawing/2014/main" id="{3CF2B261-ADBD-4FE1-B222-4AB007E4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8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" name="experience-shift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4697220" y="3539933"/>
            <a:ext cx="1838325" cy="67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ED760"/>
            </a:solidFill>
            <a:prstDash val="solid"/>
            <a:headEnd type="none" w="med" len="med"/>
          </a:ln>
        </p:spPr>
      </p:cxnSp>
      <p:sp>
        <p:nvSpPr>
          <p:cNvPr id="17" name="plus-voice">
            <a:extLst xmlns:a="http://schemas.openxmlformats.org/drawingml/2006/main">
              <a:ext uri="{FF2B5EF4-FFF2-40B4-BE49-F238E27FC236}">
                <a16:creationId xmlns:a16="http://schemas.microsoft.com/office/drawing/2014/main" id="{D0E2FF9F-2BB6-4329-90F8-14AEF65B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76575"/>
            <a:ext cx="104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+ voz</a:t>
            </a:r>
          </a:p>
        </p:txBody>
      </p:sp>
      <p:sp>
        <p:nvSpPr>
          <p:cNvPr id="18" name="after-zone">
            <a:extLst xmlns:a="http://schemas.openxmlformats.org/drawingml/2006/main">
              <a:ext uri="{FF2B5EF4-FFF2-40B4-BE49-F238E27FC236}">
                <a16:creationId xmlns:a16="http://schemas.microsoft.com/office/drawing/2014/main" id="{92AA4AF5-ACEC-4F50-9613-9CA1E9E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45148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9" name="after-label">
            <a:extLst xmlns:a="http://schemas.openxmlformats.org/drawingml/2006/main">
              <a:ext uri="{FF2B5EF4-FFF2-40B4-BE49-F238E27FC236}">
                <a16:creationId xmlns:a16="http://schemas.microsoft.com/office/drawing/2014/main" id="{5EFB9077-7AEC-4A73-93A1-72461DCD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CON DJ</a:t>
            </a:r>
          </a:p>
        </p:txBody>
      </p:sp>
      <p:sp>
        <p:nvSpPr>
          <p:cNvPr id="20" name="after-title">
            <a:extLst xmlns:a="http://schemas.openxmlformats.org/drawingml/2006/main">
              <a:ext uri="{FF2B5EF4-FFF2-40B4-BE49-F238E27FC236}">
                <a16:creationId xmlns:a16="http://schemas.microsoft.com/office/drawing/2014/main" id="{7A1D6D64-B2FF-4AB6-B3CE-2B73070B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Una sesión guiada</a:t>
            </a:r>
          </a:p>
        </p:txBody>
      </p:sp>
      <p:sp>
        <p:nvSpPr>
          <p:cNvPr id="21" name="after-step-1">
            <a:extLst xmlns:a="http://schemas.openxmlformats.org/drawingml/2006/main">
              <a:ext uri="{FF2B5EF4-FFF2-40B4-BE49-F238E27FC236}">
                <a16:creationId xmlns:a16="http://schemas.microsoft.com/office/drawing/2014/main" id="{9A195B45-6F67-4F6F-BA1C-3DADB6AB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22" name="after-step-1-number">
            <a:extLst xmlns:a="http://schemas.openxmlformats.org/drawingml/2006/main">
              <a:ext uri="{FF2B5EF4-FFF2-40B4-BE49-F238E27FC236}">
                <a16:creationId xmlns:a16="http://schemas.microsoft.com/office/drawing/2014/main" id="{92EC1A6B-D977-4CD4-86E2-B96D3FF7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95675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0D0C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3" name="after-step-1-label">
            <a:extLst xmlns:a="http://schemas.openxmlformats.org/drawingml/2006/main">
              <a:ext uri="{FF2B5EF4-FFF2-40B4-BE49-F238E27FC236}">
                <a16:creationId xmlns:a16="http://schemas.microsoft.com/office/drawing/2014/main" id="{7BEABF1A-BC06-48A1-AEB1-143C27CB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Canciones elegidas para ti</a:t>
            </a:r>
          </a:p>
        </p:txBody>
      </p:sp>
      <p:sp>
        <p:nvSpPr>
          <p:cNvPr id="24" name="after-step-2">
            <a:extLst xmlns:a="http://schemas.openxmlformats.org/drawingml/2006/main">
              <a:ext uri="{FF2B5EF4-FFF2-40B4-BE49-F238E27FC236}">
                <a16:creationId xmlns:a16="http://schemas.microsoft.com/office/drawing/2014/main" id="{8B57C660-B80E-47B5-A6C2-8FCCA6D5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8FF"/>
          </a:solidFill>
        </p:spPr>
      </p:sp>
      <p:sp>
        <p:nvSpPr>
          <p:cNvPr id="25" name="after-step-2-number">
            <a:extLst xmlns:a="http://schemas.openxmlformats.org/drawingml/2006/main">
              <a:ext uri="{FF2B5EF4-FFF2-40B4-BE49-F238E27FC236}">
                <a16:creationId xmlns:a16="http://schemas.microsoft.com/office/drawing/2014/main" id="{23113A45-B659-4F73-87DC-F4B272A5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0025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0D0C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6" name="after-step-2-label">
            <a:extLst xmlns:a="http://schemas.openxmlformats.org/drawingml/2006/main">
              <a:ext uri="{FF2B5EF4-FFF2-40B4-BE49-F238E27FC236}">
                <a16:creationId xmlns:a16="http://schemas.microsoft.com/office/drawing/2014/main" id="{F79AB231-2AE9-4E57-B46E-306E7012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Comentario breve y contextual</a:t>
            </a:r>
          </a:p>
        </p:txBody>
      </p:sp>
      <p:sp>
        <p:nvSpPr>
          <p:cNvPr id="27" name="after-step-3">
            <a:extLst xmlns:a="http://schemas.openxmlformats.org/drawingml/2006/main">
              <a:ext uri="{FF2B5EF4-FFF2-40B4-BE49-F238E27FC236}">
                <a16:creationId xmlns:a16="http://schemas.microsoft.com/office/drawing/2014/main" id="{3FAD0D85-78AC-462E-AF14-0EA2E3DA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28" name="after-step-3-number">
            <a:extLst xmlns:a="http://schemas.openxmlformats.org/drawingml/2006/main">
              <a:ext uri="{FF2B5EF4-FFF2-40B4-BE49-F238E27FC236}">
                <a16:creationId xmlns:a16="http://schemas.microsoft.com/office/drawing/2014/main" id="{22AC6DF6-7B19-4152-B2CC-2972C923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24375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0D0C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9" name="after-step-3-label">
            <a:extLst xmlns:a="http://schemas.openxmlformats.org/drawingml/2006/main">
              <a:ext uri="{FF2B5EF4-FFF2-40B4-BE49-F238E27FC236}">
                <a16:creationId xmlns:a16="http://schemas.microsoft.com/office/drawing/2014/main" id="{A4492BE7-B031-4870-B186-F6DEB62E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Feedback: cambiar de vibe</a:t>
            </a:r>
          </a:p>
        </p:txBody>
      </p:sp>
      <p:sp>
        <p:nvSpPr>
          <p:cNvPr id="30" name="footer-02-rule">
            <a:extLst xmlns:a="http://schemas.openxmlformats.org/drawingml/2006/main">
              <a:ext uri="{FF2B5EF4-FFF2-40B4-BE49-F238E27FC236}">
                <a16:creationId xmlns:a16="http://schemas.microsoft.com/office/drawing/2014/main" id="{AD613273-40AE-4143-8EAD-BA38F8E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31" name="footer-02-source">
            <a:extLst xmlns:a="http://schemas.openxmlformats.org/drawingml/2006/main">
              <a:ext uri="{FF2B5EF4-FFF2-40B4-BE49-F238E27FC236}">
                <a16:creationId xmlns:a16="http://schemas.microsoft.com/office/drawing/2014/main" id="{11DF7C1A-E947-48EE-B378-EFE008CB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Fuente: trabajo entregado; Spotify Newsroom, 22 feb 2023</a:t>
            </a:r>
          </a:p>
        </p:txBody>
      </p:sp>
      <p:sp>
        <p:nvSpPr>
          <p:cNvPr id="32" name="footer-02-page">
            <a:extLst xmlns:a="http://schemas.openxmlformats.org/drawingml/2006/main">
              <a:ext uri="{FF2B5EF4-FFF2-40B4-BE49-F238E27FC236}">
                <a16:creationId xmlns:a16="http://schemas.microsoft.com/office/drawing/2014/main" id="{7B30146E-E287-42E3-83EE-FDF3BFD1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23554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C080B8E-BCA1-44DE-8CF2-B619896B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C"/>
          </a:solidFill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95399AEC-5753-4E0C-B4D8-90E0850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61472B51-6E53-4B49-81D4-82D7258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TRES PILARES</a:t>
            </a:r>
          </a:p>
        </p:txBody>
      </p:sp>
      <p:sp>
        <p:nvSpPr>
          <p:cNvPr id="4" name="title-03">
            <a:extLst xmlns:a="http://schemas.openxmlformats.org/drawingml/2006/main">
              <a:ext uri="{FF2B5EF4-FFF2-40B4-BE49-F238E27FC236}">
                <a16:creationId xmlns:a16="http://schemas.microsoft.com/office/drawing/2014/main" id="{07F911B4-F7F1-4AEA-9D79-41B0501D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La innovación aparece al coordinar tres sistemas que ya existían.</a:t>
            </a:r>
          </a:p>
        </p:txBody>
      </p:sp>
      <p:sp>
        <p:nvSpPr>
          <p:cNvPr id="5" name="recommendation-panel">
            <a:extLst xmlns:a="http://schemas.openxmlformats.org/drawingml/2006/main">
              <a:ext uri="{FF2B5EF4-FFF2-40B4-BE49-F238E27FC236}">
                <a16:creationId xmlns:a16="http://schemas.microsoft.com/office/drawing/2014/main" id="{F1A15AA0-245C-4008-8DD8-1AACA745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009900" cy="21717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6" name="recommendation-accent">
            <a:extLst xmlns:a="http://schemas.openxmlformats.org/drawingml/2006/main">
              <a:ext uri="{FF2B5EF4-FFF2-40B4-BE49-F238E27FC236}">
                <a16:creationId xmlns:a16="http://schemas.microsoft.com/office/drawing/2014/main" id="{30069DD7-73DD-4837-A1D3-5C0B11C6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7" name="recommendation-heading">
            <a:extLst xmlns:a="http://schemas.openxmlformats.org/drawingml/2006/main">
              <a:ext uri="{FF2B5EF4-FFF2-40B4-BE49-F238E27FC236}">
                <a16:creationId xmlns:a16="http://schemas.microsoft.com/office/drawing/2014/main" id="{41500F23-A301-4746-8312-4CEA0306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590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1. Personalización</a:t>
            </a:r>
          </a:p>
        </p:txBody>
      </p:sp>
      <p:sp>
        <p:nvSpPr>
          <p:cNvPr id="8" name="recommendation-body">
            <a:extLst xmlns:a="http://schemas.openxmlformats.org/drawingml/2006/main">
              <a:ext uri="{FF2B5EF4-FFF2-40B4-BE49-F238E27FC236}">
                <a16:creationId xmlns:a16="http://schemas.microsoft.com/office/drawing/2014/main" id="{639F2D26-AE77-4E8E-A95C-C98602E7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25908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Filtrado colaborativo, audio y metadatos para decidir qué escuchar.</a:t>
            </a:r>
          </a:p>
        </p:txBody>
      </p:sp>
      <p:sp>
        <p:nvSpPr>
          <p:cNvPr id="9" name="generation-panel">
            <a:extLst xmlns:a="http://schemas.openxmlformats.org/drawingml/2006/main">
              <a:ext uri="{FF2B5EF4-FFF2-40B4-BE49-F238E27FC236}">
                <a16:creationId xmlns:a16="http://schemas.microsoft.com/office/drawing/2014/main" id="{472C46BF-EF23-45AA-AB08-E0721BD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3009900" cy="21717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0" name="generation-accent">
            <a:extLst xmlns:a="http://schemas.openxmlformats.org/drawingml/2006/main">
              <a:ext uri="{FF2B5EF4-FFF2-40B4-BE49-F238E27FC236}">
                <a16:creationId xmlns:a16="http://schemas.microsoft.com/office/drawing/2014/main" id="{2EE72041-C51D-41B0-87BE-3CA7E9C0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8FF"/>
          </a:solidFill>
        </p:spPr>
      </p:sp>
      <p:sp>
        <p:nvSpPr>
          <p:cNvPr id="11" name="generation-heading">
            <a:extLst xmlns:a="http://schemas.openxmlformats.org/drawingml/2006/main">
              <a:ext uri="{FF2B5EF4-FFF2-40B4-BE49-F238E27FC236}">
                <a16:creationId xmlns:a16="http://schemas.microsoft.com/office/drawing/2014/main" id="{658479FF-6CB3-476A-90BC-EE965210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590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2. IA generativa</a:t>
            </a:r>
          </a:p>
        </p:txBody>
      </p:sp>
      <p:sp>
        <p:nvSpPr>
          <p:cNvPr id="12" name="generation-body">
            <a:extLst xmlns:a="http://schemas.openxmlformats.org/drawingml/2006/main">
              <a:ext uri="{FF2B5EF4-FFF2-40B4-BE49-F238E27FC236}">
                <a16:creationId xmlns:a16="http://schemas.microsoft.com/office/drawing/2014/main" id="{02AF613D-F5F7-4A7F-B847-F890F62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71800"/>
            <a:ext cx="25908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OpenAI + editores musicales para redactar contexto relevante.</a:t>
            </a:r>
          </a:p>
        </p:txBody>
      </p:sp>
      <p:sp>
        <p:nvSpPr>
          <p:cNvPr id="13" name="voice-panel">
            <a:extLst xmlns:a="http://schemas.openxmlformats.org/drawingml/2006/main">
              <a:ext uri="{FF2B5EF4-FFF2-40B4-BE49-F238E27FC236}">
                <a16:creationId xmlns:a16="http://schemas.microsoft.com/office/drawing/2014/main" id="{10839E75-91AC-4C5F-A536-B449698F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3009900" cy="21717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4" name="voice-accent">
            <a:extLst xmlns:a="http://schemas.openxmlformats.org/drawingml/2006/main">
              <a:ext uri="{FF2B5EF4-FFF2-40B4-BE49-F238E27FC236}">
                <a16:creationId xmlns:a16="http://schemas.microsoft.com/office/drawing/2014/main" id="{4F87B5F9-A6DF-44D2-B003-CC6AA78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762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57"/>
          </a:solidFill>
        </p:spPr>
      </p:sp>
      <p:sp>
        <p:nvSpPr>
          <p:cNvPr id="15" name="voice-heading">
            <a:extLst xmlns:a="http://schemas.openxmlformats.org/drawingml/2006/main">
              <a:ext uri="{FF2B5EF4-FFF2-40B4-BE49-F238E27FC236}">
                <a16:creationId xmlns:a16="http://schemas.microsoft.com/office/drawing/2014/main" id="{D1013B2F-F037-4B50-9549-002C5F2A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590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3. Voz sintética</a:t>
            </a:r>
          </a:p>
        </p:txBody>
      </p:sp>
      <p:sp>
        <p:nvSpPr>
          <p:cNvPr id="16" name="voice-body">
            <a:extLst xmlns:a="http://schemas.openxmlformats.org/drawingml/2006/main">
              <a:ext uri="{FF2B5EF4-FFF2-40B4-BE49-F238E27FC236}">
                <a16:creationId xmlns:a16="http://schemas.microsoft.com/office/drawing/2014/main" id="{77CE4D2D-A288-4FF2-BFBE-44F8D64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71800"/>
            <a:ext cx="25908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Sonantic transforma el guion en una locución realista y expresiva.</a:t>
            </a:r>
          </a:p>
        </p:txBody>
      </p:sp>
      <p:sp>
        <p:nvSpPr>
          <p:cNvPr id="17" name="arrow-recommendation-generation:from-anchor">
            <a:extLst xmlns:a="http://schemas.openxmlformats.org/drawingml/2006/main">
              <a:ext uri="{FF2B5EF4-FFF2-40B4-BE49-F238E27FC236}">
                <a16:creationId xmlns:a16="http://schemas.microsoft.com/office/drawing/2014/main" id="{9AE641AA-867C-4201-A992-91D316B8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623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arrow-recommendation-generation:to-anchor">
            <a:extLst xmlns:a="http://schemas.openxmlformats.org/drawingml/2006/main">
              <a:ext uri="{FF2B5EF4-FFF2-40B4-BE49-F238E27FC236}">
                <a16:creationId xmlns:a16="http://schemas.microsoft.com/office/drawing/2014/main" id="{BDE94D7E-8A95-4FD5-B904-2F87028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23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" name="arrow-recommendation-generation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706620" y="3463733"/>
            <a:ext cx="752475" cy="67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ED760"/>
            </a:solidFill>
            <a:prstDash val="solid"/>
            <a:headEnd type="none" w="med" len="med"/>
          </a:ln>
        </p:spPr>
      </p:cxnSp>
      <p:sp>
        <p:nvSpPr>
          <p:cNvPr id="20" name="arrow-generation-voice:from-anchor">
            <a:extLst xmlns:a="http://schemas.openxmlformats.org/drawingml/2006/main">
              <a:ext uri="{FF2B5EF4-FFF2-40B4-BE49-F238E27FC236}">
                <a16:creationId xmlns:a16="http://schemas.microsoft.com/office/drawing/2014/main" id="{6DDA6F6E-8C0A-4061-AFF8-0E33626B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4623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arrow-generation-voice:to-anchor">
            <a:extLst xmlns:a="http://schemas.openxmlformats.org/drawingml/2006/main">
              <a:ext uri="{FF2B5EF4-FFF2-40B4-BE49-F238E27FC236}">
                <a16:creationId xmlns:a16="http://schemas.microsoft.com/office/drawing/2014/main" id="{DD9B7495-F40D-43C9-98C4-65EA5C2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23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" name="arrow-generation-voice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592820" y="3463733"/>
            <a:ext cx="752475" cy="67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ED760"/>
            </a:solidFill>
            <a:prstDash val="solid"/>
            <a:headEnd type="none" w="med" len="med"/>
          </a:ln>
        </p:spPr>
      </p:cxnSp>
      <p:sp>
        <p:nvSpPr>
          <p:cNvPr id="23" name="labels-rule">
            <a:extLst xmlns:a="http://schemas.openxmlformats.org/drawingml/2006/main">
              <a:ext uri="{FF2B5EF4-FFF2-40B4-BE49-F238E27FC236}">
                <a16:creationId xmlns:a16="http://schemas.microsoft.com/office/drawing/2014/main" id="{30100185-D386-410C-981B-2E7E0F46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24" name="recommendation-question">
            <a:extLst xmlns:a="http://schemas.openxmlformats.org/drawingml/2006/main">
              <a:ext uri="{FF2B5EF4-FFF2-40B4-BE49-F238E27FC236}">
                <a16:creationId xmlns:a16="http://schemas.microsoft.com/office/drawing/2014/main" id="{36BAE595-C648-4151-8641-CD0BCD6C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QUÉ ESCUCHAR</a:t>
            </a:r>
          </a:p>
        </p:txBody>
      </p:sp>
      <p:sp>
        <p:nvSpPr>
          <p:cNvPr id="25" name="generation-question">
            <a:extLst xmlns:a="http://schemas.openxmlformats.org/drawingml/2006/main">
              <a:ext uri="{FF2B5EF4-FFF2-40B4-BE49-F238E27FC236}">
                <a16:creationId xmlns:a16="http://schemas.microsoft.com/office/drawing/2014/main" id="{13226B5F-2D4E-4D58-BEAE-9988B660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86375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7B8FF"/>
                </a:solidFill>
                <a:latin typeface="Arial Narrow"/>
                <a:ea typeface="Arial Narrow"/>
                <a:cs typeface="Arial Narrow"/>
              </a:defRPr>
            </a:pPr>
            <a:r>
              <a:t>QUÉ DECIR</a:t>
            </a:r>
          </a:p>
        </p:txBody>
      </p:sp>
      <p:sp>
        <p:nvSpPr>
          <p:cNvPr id="26" name="voice-question">
            <a:extLst xmlns:a="http://schemas.openxmlformats.org/drawingml/2006/main">
              <a:ext uri="{FF2B5EF4-FFF2-40B4-BE49-F238E27FC236}">
                <a16:creationId xmlns:a16="http://schemas.microsoft.com/office/drawing/2014/main" id="{FA1A0497-5F53-415E-89DC-125C6BA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86375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B657"/>
                </a:solidFill>
                <a:latin typeface="Arial Narrow"/>
                <a:ea typeface="Arial Narrow"/>
                <a:cs typeface="Arial Narrow"/>
              </a:defRPr>
            </a:pPr>
            <a:r>
              <a:t>CÓMO DECIRLO</a:t>
            </a:r>
          </a:p>
        </p:txBody>
      </p:sp>
      <p:sp>
        <p:nvSpPr>
          <p:cNvPr id="27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618DA8D8-F57E-41F7-9B9B-23EF118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819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La novedad no está en una pieza aislada, sino en la orquestación.</a:t>
            </a:r>
          </a:p>
        </p:txBody>
      </p:sp>
      <p:sp>
        <p:nvSpPr>
          <p:cNvPr id="28" name="footer-03-rule">
            <a:extLst xmlns:a="http://schemas.openxmlformats.org/drawingml/2006/main">
              <a:ext uri="{FF2B5EF4-FFF2-40B4-BE49-F238E27FC236}">
                <a16:creationId xmlns:a16="http://schemas.microsoft.com/office/drawing/2014/main" id="{3A6ADE55-C161-4549-9A9E-327E928A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29" name="footer-03-source">
            <a:extLst xmlns:a="http://schemas.openxmlformats.org/drawingml/2006/main">
              <a:ext uri="{FF2B5EF4-FFF2-40B4-BE49-F238E27FC236}">
                <a16:creationId xmlns:a16="http://schemas.microsoft.com/office/drawing/2014/main" id="{B8E34705-08F3-4B0F-9773-0781C0EC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Fuente: Spotify Newsroom, 22 feb 2023</a:t>
            </a:r>
          </a:p>
        </p:txBody>
      </p:sp>
      <p:sp>
        <p:nvSpPr>
          <p:cNvPr id="30" name="footer-03-page">
            <a:extLst xmlns:a="http://schemas.openxmlformats.org/drawingml/2006/main">
              <a:ext uri="{FF2B5EF4-FFF2-40B4-BE49-F238E27FC236}">
                <a16:creationId xmlns:a16="http://schemas.microsoft.com/office/drawing/2014/main" id="{19282186-735C-4947-A4E4-16A13835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17908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E1F041E-D8F6-4746-8C81-E6C9BE9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C"/>
          </a:solidFill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8A27994-597C-44BE-BD61-9FB75CB8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0B0C467C-C6FD-4A49-9636-8152AFF8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PIPELINE ADAPTADO</a:t>
            </a:r>
          </a:p>
        </p:txBody>
      </p:sp>
      <p:sp>
        <p:nvSpPr>
          <p:cNvPr id="4" name="title-04">
            <a:extLst xmlns:a="http://schemas.openxmlformats.org/drawingml/2006/main">
              <a:ext uri="{FF2B5EF4-FFF2-40B4-BE49-F238E27FC236}">
                <a16:creationId xmlns:a16="http://schemas.microsoft.com/office/drawing/2014/main" id="{855D6526-4EBC-4A34-A163-F834990A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El reto técnico está en generar contexto útil sin romper la escucha.</a:t>
            </a:r>
          </a:p>
        </p:txBody>
      </p:sp>
      <p:sp>
        <p:nvSpPr>
          <p:cNvPr id="5" name="inputs-container">
            <a:extLst xmlns:a="http://schemas.openxmlformats.org/drawingml/2006/main">
              <a:ext uri="{FF2B5EF4-FFF2-40B4-BE49-F238E27FC236}">
                <a16:creationId xmlns:a16="http://schemas.microsoft.com/office/drawing/2014/main" id="{1A0C649D-2E03-4C10-87E0-30BFE3A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781300" cy="3276600"/>
          </a:xfrm>
          <a:prstGeom xmlns:a="http://schemas.openxmlformats.org/drawingml/2006/main" prst="roundRect">
            <a:avLst>
              <a:gd name="adj" fmla="val 2055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6" name="inputs-label">
            <a:extLst xmlns:a="http://schemas.openxmlformats.org/drawingml/2006/main">
              <a:ext uri="{FF2B5EF4-FFF2-40B4-BE49-F238E27FC236}">
                <a16:creationId xmlns:a16="http://schemas.microsoft.com/office/drawing/2014/main" id="{5C721F2C-EA87-4160-967C-394428B7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ENTRADAS</a:t>
            </a:r>
          </a:p>
        </p:txBody>
      </p:sp>
      <p:sp>
        <p:nvSpPr>
          <p:cNvPr id="7" name="history-panel">
            <a:extLst xmlns:a="http://schemas.openxmlformats.org/drawingml/2006/main">
              <a:ext uri="{FF2B5EF4-FFF2-40B4-BE49-F238E27FC236}">
                <a16:creationId xmlns:a16="http://schemas.microsoft.com/office/drawing/2014/main" id="{BF51410B-362E-41AC-8B92-8B0D8B22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3241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8" name="history-accent">
            <a:extLst xmlns:a="http://schemas.openxmlformats.org/drawingml/2006/main">
              <a:ext uri="{FF2B5EF4-FFF2-40B4-BE49-F238E27FC236}">
                <a16:creationId xmlns:a16="http://schemas.microsoft.com/office/drawing/2014/main" id="{1FC2C0CF-F08F-434A-9D28-F6FC7C3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9" name="history-heading">
            <a:extLst xmlns:a="http://schemas.openxmlformats.org/drawingml/2006/main">
              <a:ext uri="{FF2B5EF4-FFF2-40B4-BE49-F238E27FC236}">
                <a16:creationId xmlns:a16="http://schemas.microsoft.com/office/drawing/2014/main" id="{58C79DCA-E986-4A66-904A-40729E23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Historial del usuario</a:t>
            </a:r>
          </a:p>
        </p:txBody>
      </p:sp>
      <p:sp>
        <p:nvSpPr>
          <p:cNvPr id="10" name="history-body">
            <a:extLst xmlns:a="http://schemas.openxmlformats.org/drawingml/2006/main">
              <a:ext uri="{FF2B5EF4-FFF2-40B4-BE49-F238E27FC236}">
                <a16:creationId xmlns:a16="http://schemas.microsoft.com/office/drawing/2014/main" id="{CBFF1A50-7AF5-42FA-9226-3B3EA58D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885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Hábitos, favoritos y feedback</a:t>
            </a:r>
          </a:p>
        </p:txBody>
      </p:sp>
      <p:sp>
        <p:nvSpPr>
          <p:cNvPr id="11" name="metadata-panel">
            <a:extLst xmlns:a="http://schemas.openxmlformats.org/drawingml/2006/main">
              <a:ext uri="{FF2B5EF4-FFF2-40B4-BE49-F238E27FC236}">
                <a16:creationId xmlns:a16="http://schemas.microsoft.com/office/drawing/2014/main" id="{D21A67ED-1B61-48BC-83A8-2F0211CA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3241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2" name="metadata-accent">
            <a:extLst xmlns:a="http://schemas.openxmlformats.org/drawingml/2006/main">
              <a:ext uri="{FF2B5EF4-FFF2-40B4-BE49-F238E27FC236}">
                <a16:creationId xmlns:a16="http://schemas.microsoft.com/office/drawing/2014/main" id="{DB22BE0B-266B-4F4E-8D52-1791EB28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8FF"/>
          </a:solidFill>
        </p:spPr>
      </p:sp>
      <p:sp>
        <p:nvSpPr>
          <p:cNvPr id="13" name="metadata-heading">
            <a:extLst xmlns:a="http://schemas.openxmlformats.org/drawingml/2006/main">
              <a:ext uri="{FF2B5EF4-FFF2-40B4-BE49-F238E27FC236}">
                <a16:creationId xmlns:a16="http://schemas.microsoft.com/office/drawing/2014/main" id="{45CAA7D6-396C-4D0D-9CB5-A2C8E7E0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Metadatos musicales</a:t>
            </a:r>
          </a:p>
        </p:txBody>
      </p:sp>
      <p:sp>
        <p:nvSpPr>
          <p:cNvPr id="14" name="metadata-body">
            <a:extLst xmlns:a="http://schemas.openxmlformats.org/drawingml/2006/main">
              <a:ext uri="{FF2B5EF4-FFF2-40B4-BE49-F238E27FC236}">
                <a16:creationId xmlns:a16="http://schemas.microsoft.com/office/drawing/2014/main" id="{C08A6B78-1ADF-4234-8C7D-C98700CB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1885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BPM, género, mood y novedad</a:t>
            </a:r>
          </a:p>
        </p:txBody>
      </p:sp>
      <p:sp>
        <p:nvSpPr>
          <p:cNvPr id="15" name="editors-panel">
            <a:extLst xmlns:a="http://schemas.openxmlformats.org/drawingml/2006/main">
              <a:ext uri="{FF2B5EF4-FFF2-40B4-BE49-F238E27FC236}">
                <a16:creationId xmlns:a16="http://schemas.microsoft.com/office/drawing/2014/main" id="{6C73A145-CE4F-4459-AE79-5D392EF7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3241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6" name="editors-accent">
            <a:extLst xmlns:a="http://schemas.openxmlformats.org/drawingml/2006/main">
              <a:ext uri="{FF2B5EF4-FFF2-40B4-BE49-F238E27FC236}">
                <a16:creationId xmlns:a16="http://schemas.microsoft.com/office/drawing/2014/main" id="{6F45E67F-CCA0-4720-91B2-04FADDE5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57"/>
          </a:solidFill>
        </p:spPr>
      </p:sp>
      <p:sp>
        <p:nvSpPr>
          <p:cNvPr id="17" name="editors-heading">
            <a:extLst xmlns:a="http://schemas.openxmlformats.org/drawingml/2006/main">
              <a:ext uri="{FF2B5EF4-FFF2-40B4-BE49-F238E27FC236}">
                <a16:creationId xmlns:a16="http://schemas.microsoft.com/office/drawing/2014/main" id="{BC410E1D-58B9-4AAC-B45E-CBC05C7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Curación editorial</a:t>
            </a:r>
          </a:p>
        </p:txBody>
      </p:sp>
      <p:sp>
        <p:nvSpPr>
          <p:cNvPr id="18" name="editors-body">
            <a:extLst xmlns:a="http://schemas.openxmlformats.org/drawingml/2006/main">
              <a:ext uri="{FF2B5EF4-FFF2-40B4-BE49-F238E27FC236}">
                <a16:creationId xmlns:a16="http://schemas.microsoft.com/office/drawing/2014/main" id="{956597B5-34E2-4E1E-9628-1F8C78A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885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Anécdotas y contexto cultural</a:t>
            </a:r>
          </a:p>
        </p:txBody>
      </p:sp>
      <p:sp>
        <p:nvSpPr>
          <p:cNvPr id="19" name="blocks-panel">
            <a:extLst xmlns:a="http://schemas.openxmlformats.org/drawingml/2006/main">
              <a:ext uri="{FF2B5EF4-FFF2-40B4-BE49-F238E27FC236}">
                <a16:creationId xmlns:a16="http://schemas.microsoft.com/office/drawing/2014/main" id="{F110622E-B36E-4BFD-A1D2-B9A765CD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809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8201C"/>
          </a:solidFill>
          <a:ln xmlns:a="http://schemas.openxmlformats.org/drawingml/2006/main" w="9525">
            <a:solidFill>
              <a:srgbClr val="1ED760"/>
            </a:solidFill>
            <a:prstDash val="solid"/>
          </a:ln>
        </p:spPr>
      </p:sp>
      <p:sp>
        <p:nvSpPr>
          <p:cNvPr id="20" name="blocks-heading">
            <a:extLst xmlns:a="http://schemas.openxmlformats.org/drawingml/2006/main">
              <a:ext uri="{FF2B5EF4-FFF2-40B4-BE49-F238E27FC236}">
                <a16:creationId xmlns:a16="http://schemas.microsoft.com/office/drawing/2014/main" id="{B9AD2621-B63B-43C8-ABB2-F28300F3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670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Bloques</a:t>
            </a:r>
          </a:p>
        </p:txBody>
      </p:sp>
      <p:sp>
        <p:nvSpPr>
          <p:cNvPr id="21" name="blocks-body">
            <a:extLst xmlns:a="http://schemas.openxmlformats.org/drawingml/2006/main">
              <a:ext uri="{FF2B5EF4-FFF2-40B4-BE49-F238E27FC236}">
                <a16:creationId xmlns:a16="http://schemas.microsoft.com/office/drawing/2014/main" id="{6B15DF7F-8339-4FDD-8C47-4A81BEA1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Agrupa canciones por tema o momento.</a:t>
            </a:r>
          </a:p>
        </p:txBody>
      </p:sp>
      <p:sp>
        <p:nvSpPr>
          <p:cNvPr id="22" name="script-panel">
            <a:extLst xmlns:a="http://schemas.openxmlformats.org/drawingml/2006/main">
              <a:ext uri="{FF2B5EF4-FFF2-40B4-BE49-F238E27FC236}">
                <a16:creationId xmlns:a16="http://schemas.microsoft.com/office/drawing/2014/main" id="{42A3FD49-3218-4039-85A6-B96D939E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1809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8201C"/>
          </a:solidFill>
          <a:ln xmlns:a="http://schemas.openxmlformats.org/drawingml/2006/main" w="9525">
            <a:solidFill>
              <a:srgbClr val="57B8FF"/>
            </a:solidFill>
            <a:prstDash val="solid"/>
          </a:ln>
        </p:spPr>
      </p:sp>
      <p:sp>
        <p:nvSpPr>
          <p:cNvPr id="23" name="script-heading">
            <a:extLst xmlns:a="http://schemas.openxmlformats.org/drawingml/2006/main">
              <a:ext uri="{FF2B5EF4-FFF2-40B4-BE49-F238E27FC236}">
                <a16:creationId xmlns:a16="http://schemas.microsoft.com/office/drawing/2014/main" id="{74D18F75-3686-43E3-8F44-A895752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7B8FF"/>
                </a:solidFill>
                <a:latin typeface="Arial"/>
                <a:ea typeface="Arial"/>
                <a:cs typeface="Arial"/>
              </a:defRPr>
            </a:pPr>
            <a:r>
              <a:t>Guion</a:t>
            </a:r>
          </a:p>
        </p:txBody>
      </p:sp>
      <p:sp>
        <p:nvSpPr>
          <p:cNvPr id="24" name="script-body">
            <a:extLst xmlns:a="http://schemas.openxmlformats.org/drawingml/2006/main">
              <a:ext uri="{FF2B5EF4-FFF2-40B4-BE49-F238E27FC236}">
                <a16:creationId xmlns:a16="http://schemas.microsoft.com/office/drawing/2014/main" id="{20ECB08B-2401-4743-95EF-1C4A46E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El LLM redacta una introducción breve.</a:t>
            </a:r>
          </a:p>
        </p:txBody>
      </p:sp>
      <p:sp>
        <p:nvSpPr>
          <p:cNvPr id="25" name="tts-panel">
            <a:extLst xmlns:a="http://schemas.openxmlformats.org/drawingml/2006/main">
              <a:ext uri="{FF2B5EF4-FFF2-40B4-BE49-F238E27FC236}">
                <a16:creationId xmlns:a16="http://schemas.microsoft.com/office/drawing/2014/main" id="{EA56F735-C353-4576-BACB-CB7F0BF6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1809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8201C"/>
          </a:solidFill>
          <a:ln xmlns:a="http://schemas.openxmlformats.org/drawingml/2006/main" w="9525">
            <a:solidFill>
              <a:srgbClr val="FFB657"/>
            </a:solidFill>
            <a:prstDash val="solid"/>
          </a:ln>
        </p:spPr>
      </p:sp>
      <p:sp>
        <p:nvSpPr>
          <p:cNvPr id="26" name="tts-heading">
            <a:extLst xmlns:a="http://schemas.openxmlformats.org/drawingml/2006/main">
              <a:ext uri="{FF2B5EF4-FFF2-40B4-BE49-F238E27FC236}">
                <a16:creationId xmlns:a16="http://schemas.microsoft.com/office/drawing/2014/main" id="{CCCB4D88-67E8-4748-9AF5-3E305ACD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B657"/>
                </a:solidFill>
                <a:latin typeface="Arial"/>
                <a:ea typeface="Arial"/>
                <a:cs typeface="Arial"/>
              </a:defRPr>
            </a:pPr>
            <a:r>
              <a:t>Voz</a:t>
            </a:r>
          </a:p>
        </p:txBody>
      </p:sp>
      <p:sp>
        <p:nvSpPr>
          <p:cNvPr id="27" name="tts-body">
            <a:extLst xmlns:a="http://schemas.openxmlformats.org/drawingml/2006/main">
              <a:ext uri="{FF2B5EF4-FFF2-40B4-BE49-F238E27FC236}">
                <a16:creationId xmlns:a16="http://schemas.microsoft.com/office/drawing/2014/main" id="{BADDDDC1-8A24-447F-BD9C-B078104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Sonantic genera el corte de audio.</a:t>
            </a:r>
          </a:p>
        </p:txBody>
      </p:sp>
      <p:sp>
        <p:nvSpPr>
          <p:cNvPr id="28" name="flow-arrow-inputs">
            <a:extLst xmlns:a="http://schemas.openxmlformats.org/drawingml/2006/main">
              <a:ext uri="{FF2B5EF4-FFF2-40B4-BE49-F238E27FC236}">
                <a16:creationId xmlns:a16="http://schemas.microsoft.com/office/drawing/2014/main" id="{A0DF7F76-A26A-48DF-89AE-A5C61DD3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14700"/>
            <a:ext cx="495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9" name="flow-arrow-blocks">
            <a:extLst xmlns:a="http://schemas.openxmlformats.org/drawingml/2006/main">
              <a:ext uri="{FF2B5EF4-FFF2-40B4-BE49-F238E27FC236}">
                <a16:creationId xmlns:a16="http://schemas.microsoft.com/office/drawing/2014/main" id="{9BEC65A6-30E8-4132-AAD8-B0719455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457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flow-arrow-script">
            <a:extLst xmlns:a="http://schemas.openxmlformats.org/drawingml/2006/main">
              <a:ext uri="{FF2B5EF4-FFF2-40B4-BE49-F238E27FC236}">
                <a16:creationId xmlns:a16="http://schemas.microsoft.com/office/drawing/2014/main" id="{8A21C654-FF79-422F-859A-567D76A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457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1" name="guardrails">
            <a:extLst xmlns:a="http://schemas.openxmlformats.org/drawingml/2006/main">
              <a:ext uri="{FF2B5EF4-FFF2-40B4-BE49-F238E27FC236}">
                <a16:creationId xmlns:a16="http://schemas.microsoft.com/office/drawing/2014/main" id="{C822BC97-23AE-4855-8B4E-B8B93D0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7B8FF"/>
                </a:solidFill>
                <a:latin typeface="Arial"/>
                <a:ea typeface="Arial"/>
                <a:cs typeface="Arial"/>
              </a:defRPr>
            </a:pPr>
            <a:r>
              <a:t>contexto curado + guardrails</a:t>
            </a:r>
          </a:p>
        </p:txBody>
      </p:sp>
      <p:sp>
        <p:nvSpPr>
          <p:cNvPr id="32" name="session-rule">
            <a:extLst xmlns:a="http://schemas.openxmlformats.org/drawingml/2006/main">
              <a:ext uri="{FF2B5EF4-FFF2-40B4-BE49-F238E27FC236}">
                <a16:creationId xmlns:a16="http://schemas.microsoft.com/office/drawing/2014/main" id="{A97C8D09-48EA-4A63-BC55-A29D6B9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34000"/>
            <a:ext cx="6724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3" name="session-label">
            <a:extLst xmlns:a="http://schemas.openxmlformats.org/drawingml/2006/main">
              <a:ext uri="{FF2B5EF4-FFF2-40B4-BE49-F238E27FC236}">
                <a16:creationId xmlns:a16="http://schemas.microsoft.com/office/drawing/2014/main" id="{5E27640A-A826-45A4-859B-70C8335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24500"/>
            <a:ext cx="672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SESIÓN CONTINUA: voz y canciones sin pausas perceptibles</a:t>
            </a:r>
          </a:p>
        </p:txBody>
      </p:sp>
      <p:sp>
        <p:nvSpPr>
          <p:cNvPr id="34" name="footer-04-rule">
            <a:extLst xmlns:a="http://schemas.openxmlformats.org/drawingml/2006/main">
              <a:ext uri="{FF2B5EF4-FFF2-40B4-BE49-F238E27FC236}">
                <a16:creationId xmlns:a16="http://schemas.microsoft.com/office/drawing/2014/main" id="{E79C10BF-DA59-440F-BF23-ED725F0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35" name="footer-04-source">
            <a:extLst xmlns:a="http://schemas.openxmlformats.org/drawingml/2006/main">
              <a:ext uri="{FF2B5EF4-FFF2-40B4-BE49-F238E27FC236}">
                <a16:creationId xmlns:a16="http://schemas.microsoft.com/office/drawing/2014/main" id="{00DD5F73-14C8-4B05-9827-D60997FE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Fuente: trabajo entregado; Spotify Newsroom, 22 feb y 8 mar 2023</a:t>
            </a:r>
          </a:p>
        </p:txBody>
      </p:sp>
      <p:sp>
        <p:nvSpPr>
          <p:cNvPr id="36" name="footer-04-page">
            <a:extLst xmlns:a="http://schemas.openxmlformats.org/drawingml/2006/main">
              <a:ext uri="{FF2B5EF4-FFF2-40B4-BE49-F238E27FC236}">
                <a16:creationId xmlns:a16="http://schemas.microsoft.com/office/drawing/2014/main" id="{9A1BCF33-A9CB-4102-AB26-80841F2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85983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C2FA9C1-B083-4868-B6FC-722A2B59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C"/>
          </a:solidFill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3C4603DC-34BC-406B-9CF1-3B55CD19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13A28E25-D00F-4B3B-91DD-779253D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NATURALEZA DE LA INNOVACIÓN</a:t>
            </a:r>
          </a:p>
        </p:txBody>
      </p:sp>
      <p:sp>
        <p:nvSpPr>
          <p:cNvPr id="4" name="title-05">
            <a:extLst xmlns:a="http://schemas.openxmlformats.org/drawingml/2006/main">
              <a:ext uri="{FF2B5EF4-FFF2-40B4-BE49-F238E27FC236}">
                <a16:creationId xmlns:a16="http://schemas.microsoft.com/office/drawing/2014/main" id="{BD019957-CCB4-482C-AB90-E9906553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Spotify escala una radio 1-a-1 sin perder del todo la curación humana.</a:t>
            </a:r>
          </a:p>
        </p:txBody>
      </p:sp>
      <p:sp>
        <p:nvSpPr>
          <p:cNvPr id="5" name="radio-panel">
            <a:extLst xmlns:a="http://schemas.openxmlformats.org/drawingml/2006/main">
              <a:ext uri="{FF2B5EF4-FFF2-40B4-BE49-F238E27FC236}">
                <a16:creationId xmlns:a16="http://schemas.microsoft.com/office/drawing/2014/main" id="{B482352E-1F66-4BC6-B1A1-F1AD45BC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276600" cy="32004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6" name="radio-topline">
            <a:extLst xmlns:a="http://schemas.openxmlformats.org/drawingml/2006/main">
              <a:ext uri="{FF2B5EF4-FFF2-40B4-BE49-F238E27FC236}">
                <a16:creationId xmlns:a16="http://schemas.microsoft.com/office/drawing/2014/main" id="{171F218E-BB65-4683-A565-B34F935D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27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57"/>
          </a:solidFill>
        </p:spPr>
      </p:sp>
      <p:sp>
        <p:nvSpPr>
          <p:cNvPr id="7" name="radio-heading">
            <a:extLst xmlns:a="http://schemas.openxmlformats.org/drawingml/2006/main">
              <a:ext uri="{FF2B5EF4-FFF2-40B4-BE49-F238E27FC236}">
                <a16:creationId xmlns:a16="http://schemas.microsoft.com/office/drawing/2014/main" id="{4A7E5F04-2188-4F34-B531-7937E614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819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Radio clásica</a:t>
            </a:r>
          </a:p>
        </p:txBody>
      </p:sp>
      <p:sp>
        <p:nvSpPr>
          <p:cNvPr id="8" name="radio-subtitle">
            <a:extLst xmlns:a="http://schemas.openxmlformats.org/drawingml/2006/main">
              <a:ext uri="{FF2B5EF4-FFF2-40B4-BE49-F238E27FC236}">
                <a16:creationId xmlns:a16="http://schemas.microsoft.com/office/drawing/2014/main" id="{300496FE-C024-427B-9415-D7B5BF7B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B657"/>
                </a:solidFill>
                <a:latin typeface="Arial"/>
                <a:ea typeface="Arial"/>
                <a:cs typeface="Arial"/>
              </a:defRPr>
            </a:pPr>
            <a:r>
              <a:t>contexto humano</a:t>
            </a:r>
          </a:p>
        </p:txBody>
      </p:sp>
      <p:sp>
        <p:nvSpPr>
          <p:cNvPr id="9" name="radio-row-0-rule">
            <a:extLst xmlns:a="http://schemas.openxmlformats.org/drawingml/2006/main">
              <a:ext uri="{FF2B5EF4-FFF2-40B4-BE49-F238E27FC236}">
                <a16:creationId xmlns:a16="http://schemas.microsoft.com/office/drawing/2014/main" id="{CA09D7A9-B9AB-4ECC-88F9-C9DA99C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10" name="radio-row-0-label">
            <a:extLst xmlns:a="http://schemas.openxmlformats.org/drawingml/2006/main">
              <a:ext uri="{FF2B5EF4-FFF2-40B4-BE49-F238E27FC236}">
                <a16:creationId xmlns:a16="http://schemas.microsoft.com/office/drawing/2014/main" id="{E710AF50-9855-4CF9-97AF-B9C72DEE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Personalización</a:t>
            </a:r>
          </a:p>
        </p:txBody>
      </p:sp>
      <p:sp>
        <p:nvSpPr>
          <p:cNvPr id="11" name="radio-row-0-value">
            <a:extLst xmlns:a="http://schemas.openxmlformats.org/drawingml/2006/main">
              <a:ext uri="{FF2B5EF4-FFF2-40B4-BE49-F238E27FC236}">
                <a16:creationId xmlns:a16="http://schemas.microsoft.com/office/drawing/2014/main" id="{6BC94E89-C826-4BFD-941D-E9F3C09E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385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baja</a:t>
            </a:r>
          </a:p>
        </p:txBody>
      </p:sp>
      <p:sp>
        <p:nvSpPr>
          <p:cNvPr id="12" name="radio-row-1-rule">
            <a:extLst xmlns:a="http://schemas.openxmlformats.org/drawingml/2006/main">
              <a:ext uri="{FF2B5EF4-FFF2-40B4-BE49-F238E27FC236}">
                <a16:creationId xmlns:a16="http://schemas.microsoft.com/office/drawing/2014/main" id="{5B8D4709-9725-491B-8455-513E45D4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13" name="radio-row-1-label">
            <a:extLst xmlns:a="http://schemas.openxmlformats.org/drawingml/2006/main">
              <a:ext uri="{FF2B5EF4-FFF2-40B4-BE49-F238E27FC236}">
                <a16:creationId xmlns:a16="http://schemas.microsoft.com/office/drawing/2014/main" id="{79EFE10E-8714-4A95-BB3D-8702E6B5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Escala</a:t>
            </a:r>
          </a:p>
        </p:txBody>
      </p:sp>
      <p:sp>
        <p:nvSpPr>
          <p:cNvPr id="14" name="radio-row-1-value">
            <a:extLst xmlns:a="http://schemas.openxmlformats.org/drawingml/2006/main">
              <a:ext uri="{FF2B5EF4-FFF2-40B4-BE49-F238E27FC236}">
                <a16:creationId xmlns:a16="http://schemas.microsoft.com/office/drawing/2014/main" id="{78F8172A-27A9-4A5F-AD3E-3D388BB0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62425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masiva</a:t>
            </a:r>
          </a:p>
        </p:txBody>
      </p:sp>
      <p:sp>
        <p:nvSpPr>
          <p:cNvPr id="15" name="radio-row-2-rule">
            <a:extLst xmlns:a="http://schemas.openxmlformats.org/drawingml/2006/main">
              <a:ext uri="{FF2B5EF4-FFF2-40B4-BE49-F238E27FC236}">
                <a16:creationId xmlns:a16="http://schemas.microsoft.com/office/drawing/2014/main" id="{D60A0B43-5DDE-449E-9D32-99E17C97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16" name="radio-row-2-label">
            <a:extLst xmlns:a="http://schemas.openxmlformats.org/drawingml/2006/main">
              <a:ext uri="{FF2B5EF4-FFF2-40B4-BE49-F238E27FC236}">
                <a16:creationId xmlns:a16="http://schemas.microsoft.com/office/drawing/2014/main" id="{1B1F016D-244D-4921-B562-906481CD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Narrativa</a:t>
            </a:r>
          </a:p>
        </p:txBody>
      </p:sp>
      <p:sp>
        <p:nvSpPr>
          <p:cNvPr id="17" name="radio-row-2-value">
            <a:extLst xmlns:a="http://schemas.openxmlformats.org/drawingml/2006/main">
              <a:ext uri="{FF2B5EF4-FFF2-40B4-BE49-F238E27FC236}">
                <a16:creationId xmlns:a16="http://schemas.microsoft.com/office/drawing/2014/main" id="{1136EA9D-C764-450D-92FF-683BB32D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alta</a:t>
            </a:r>
          </a:p>
        </p:txBody>
      </p:sp>
      <p:sp>
        <p:nvSpPr>
          <p:cNvPr id="18" name="playlist-panel">
            <a:extLst xmlns:a="http://schemas.openxmlformats.org/drawingml/2006/main">
              <a:ext uri="{FF2B5EF4-FFF2-40B4-BE49-F238E27FC236}">
                <a16:creationId xmlns:a16="http://schemas.microsoft.com/office/drawing/2014/main" id="{3F7C1904-CA12-4C54-8E9E-C69852A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3276600" cy="32004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9" name="playlist-topline">
            <a:extLst xmlns:a="http://schemas.openxmlformats.org/drawingml/2006/main">
              <a:ext uri="{FF2B5EF4-FFF2-40B4-BE49-F238E27FC236}">
                <a16:creationId xmlns:a16="http://schemas.microsoft.com/office/drawing/2014/main" id="{D492BD10-1690-43A3-B845-689B9A2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327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8FF"/>
          </a:solidFill>
        </p:spPr>
      </p:sp>
      <p:sp>
        <p:nvSpPr>
          <p:cNvPr id="20" name="playlist-heading">
            <a:extLst xmlns:a="http://schemas.openxmlformats.org/drawingml/2006/main">
              <a:ext uri="{FF2B5EF4-FFF2-40B4-BE49-F238E27FC236}">
                <a16:creationId xmlns:a16="http://schemas.microsoft.com/office/drawing/2014/main" id="{A3874426-2866-4FCE-B1C0-DE054856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819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Playlist algorítmica</a:t>
            </a:r>
          </a:p>
        </p:txBody>
      </p:sp>
      <p:sp>
        <p:nvSpPr>
          <p:cNvPr id="21" name="playlist-subtitle">
            <a:extLst xmlns:a="http://schemas.openxmlformats.org/drawingml/2006/main">
              <a:ext uri="{FF2B5EF4-FFF2-40B4-BE49-F238E27FC236}">
                <a16:creationId xmlns:a16="http://schemas.microsoft.com/office/drawing/2014/main" id="{745850A2-C08C-435B-9B14-63E8D5AC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7B8FF"/>
                </a:solidFill>
                <a:latin typeface="Arial"/>
                <a:ea typeface="Arial"/>
                <a:cs typeface="Arial"/>
              </a:defRPr>
            </a:pPr>
            <a:r>
              <a:t>eficiencia silenciosa</a:t>
            </a:r>
          </a:p>
        </p:txBody>
      </p:sp>
      <p:sp>
        <p:nvSpPr>
          <p:cNvPr id="22" name="playlist-row-0-rule">
            <a:extLst xmlns:a="http://schemas.openxmlformats.org/drawingml/2006/main">
              <a:ext uri="{FF2B5EF4-FFF2-40B4-BE49-F238E27FC236}">
                <a16:creationId xmlns:a16="http://schemas.microsoft.com/office/drawing/2014/main" id="{AF3A5E4E-60D8-40A8-9EB2-1CE9F75F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433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23" name="playlist-row-0-label">
            <a:extLst xmlns:a="http://schemas.openxmlformats.org/drawingml/2006/main">
              <a:ext uri="{FF2B5EF4-FFF2-40B4-BE49-F238E27FC236}">
                <a16:creationId xmlns:a16="http://schemas.microsoft.com/office/drawing/2014/main" id="{39237B44-E3EA-4025-9B55-79B9BAA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Personalización</a:t>
            </a:r>
          </a:p>
        </p:txBody>
      </p:sp>
      <p:sp>
        <p:nvSpPr>
          <p:cNvPr id="24" name="playlist-row-0-value">
            <a:extLst xmlns:a="http://schemas.openxmlformats.org/drawingml/2006/main">
              <a:ext uri="{FF2B5EF4-FFF2-40B4-BE49-F238E27FC236}">
                <a16:creationId xmlns:a16="http://schemas.microsoft.com/office/drawing/2014/main" id="{A9D6E396-8B03-4C1E-BA29-3551969A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alta</a:t>
            </a:r>
          </a:p>
        </p:txBody>
      </p:sp>
      <p:sp>
        <p:nvSpPr>
          <p:cNvPr id="25" name="playlist-row-1-rule">
            <a:extLst xmlns:a="http://schemas.openxmlformats.org/drawingml/2006/main">
              <a:ext uri="{FF2B5EF4-FFF2-40B4-BE49-F238E27FC236}">
                <a16:creationId xmlns:a16="http://schemas.microsoft.com/office/drawing/2014/main" id="{7B205CD5-C7F1-488B-AB44-B9D8A2F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26" name="playlist-row-1-label">
            <a:extLst xmlns:a="http://schemas.openxmlformats.org/drawingml/2006/main">
              <a:ext uri="{FF2B5EF4-FFF2-40B4-BE49-F238E27FC236}">
                <a16:creationId xmlns:a16="http://schemas.microsoft.com/office/drawing/2014/main" id="{789BCC46-7037-4F25-882C-E6065EA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62425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Escala</a:t>
            </a:r>
          </a:p>
        </p:txBody>
      </p:sp>
      <p:sp>
        <p:nvSpPr>
          <p:cNvPr id="27" name="playlist-row-1-value">
            <a:extLst xmlns:a="http://schemas.openxmlformats.org/drawingml/2006/main">
              <a:ext uri="{FF2B5EF4-FFF2-40B4-BE49-F238E27FC236}">
                <a16:creationId xmlns:a16="http://schemas.microsoft.com/office/drawing/2014/main" id="{4653041A-038A-4D8E-B83F-FD950CBC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62425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masiva</a:t>
            </a:r>
          </a:p>
        </p:txBody>
      </p:sp>
      <p:sp>
        <p:nvSpPr>
          <p:cNvPr id="28" name="playlist-row-2-rule">
            <a:extLst xmlns:a="http://schemas.openxmlformats.org/drawingml/2006/main">
              <a:ext uri="{FF2B5EF4-FFF2-40B4-BE49-F238E27FC236}">
                <a16:creationId xmlns:a16="http://schemas.microsoft.com/office/drawing/2014/main" id="{700559CF-C18A-47E0-961F-3C1ADA7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10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29" name="playlist-row-2-label">
            <a:extLst xmlns:a="http://schemas.openxmlformats.org/drawingml/2006/main">
              <a:ext uri="{FF2B5EF4-FFF2-40B4-BE49-F238E27FC236}">
                <a16:creationId xmlns:a16="http://schemas.microsoft.com/office/drawing/2014/main" id="{031A99E3-DF86-4F51-90E9-BC45F34C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Narrativa</a:t>
            </a:r>
          </a:p>
        </p:txBody>
      </p:sp>
      <p:sp>
        <p:nvSpPr>
          <p:cNvPr id="30" name="playlist-row-2-value">
            <a:extLst xmlns:a="http://schemas.openxmlformats.org/drawingml/2006/main">
              <a:ext uri="{FF2B5EF4-FFF2-40B4-BE49-F238E27FC236}">
                <a16:creationId xmlns:a16="http://schemas.microsoft.com/office/drawing/2014/main" id="{80477120-086A-469B-9970-81DBB2B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nula</a:t>
            </a:r>
          </a:p>
        </p:txBody>
      </p:sp>
      <p:sp>
        <p:nvSpPr>
          <p:cNvPr id="31" name="dj-panel">
            <a:extLst xmlns:a="http://schemas.openxmlformats.org/drawingml/2006/main">
              <a:ext uri="{FF2B5EF4-FFF2-40B4-BE49-F238E27FC236}">
                <a16:creationId xmlns:a16="http://schemas.microsoft.com/office/drawing/2014/main" id="{DC052E89-FEEE-411A-BA31-464B7FB6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276600" cy="32004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8201C"/>
          </a:solidFill>
          <a:ln xmlns:a="http://schemas.openxmlformats.org/drawingml/2006/main" w="9525">
            <a:solidFill>
              <a:srgbClr val="1ED760"/>
            </a:solidFill>
            <a:prstDash val="solid"/>
          </a:ln>
        </p:spPr>
      </p:sp>
      <p:sp>
        <p:nvSpPr>
          <p:cNvPr id="32" name="dj-topline">
            <a:extLst xmlns:a="http://schemas.openxmlformats.org/drawingml/2006/main">
              <a:ext uri="{FF2B5EF4-FFF2-40B4-BE49-F238E27FC236}">
                <a16:creationId xmlns:a16="http://schemas.microsoft.com/office/drawing/2014/main" id="{FA3E215C-4512-4069-9CD5-E34C52FB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3" name="dj-heading">
            <a:extLst xmlns:a="http://schemas.openxmlformats.org/drawingml/2006/main">
              <a:ext uri="{FF2B5EF4-FFF2-40B4-BE49-F238E27FC236}">
                <a16:creationId xmlns:a16="http://schemas.microsoft.com/office/drawing/2014/main" id="{3BA2A4C9-7B26-4579-9C61-62E69133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2819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Spotify DJ</a:t>
            </a:r>
          </a:p>
        </p:txBody>
      </p:sp>
      <p:sp>
        <p:nvSpPr>
          <p:cNvPr id="34" name="dj-subtitle">
            <a:extLst xmlns:a="http://schemas.openxmlformats.org/drawingml/2006/main">
              <a:ext uri="{FF2B5EF4-FFF2-40B4-BE49-F238E27FC236}">
                <a16:creationId xmlns:a16="http://schemas.microsoft.com/office/drawing/2014/main" id="{E3588156-C309-4717-9CEC-0EC0D11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67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la combinación</a:t>
            </a:r>
          </a:p>
        </p:txBody>
      </p:sp>
      <p:sp>
        <p:nvSpPr>
          <p:cNvPr id="35" name="dj-row-0-rule">
            <a:extLst xmlns:a="http://schemas.openxmlformats.org/drawingml/2006/main">
              <a:ext uri="{FF2B5EF4-FFF2-40B4-BE49-F238E27FC236}">
                <a16:creationId xmlns:a16="http://schemas.microsoft.com/office/drawing/2014/main" id="{10D0444F-FD82-4933-B73F-9193275D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433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36" name="dj-row-0-label">
            <a:extLst xmlns:a="http://schemas.openxmlformats.org/drawingml/2006/main">
              <a:ext uri="{FF2B5EF4-FFF2-40B4-BE49-F238E27FC236}">
                <a16:creationId xmlns:a16="http://schemas.microsoft.com/office/drawing/2014/main" id="{AC84C054-107C-4CB5-876D-FD135EF4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Personalización</a:t>
            </a:r>
          </a:p>
        </p:txBody>
      </p:sp>
      <p:sp>
        <p:nvSpPr>
          <p:cNvPr id="37" name="dj-row-0-value">
            <a:extLst xmlns:a="http://schemas.openxmlformats.org/drawingml/2006/main">
              <a:ext uri="{FF2B5EF4-FFF2-40B4-BE49-F238E27FC236}">
                <a16:creationId xmlns:a16="http://schemas.microsoft.com/office/drawing/2014/main" id="{F1DBB3A4-305E-41B1-ABE1-F7EFA1A7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385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alta</a:t>
            </a:r>
          </a:p>
        </p:txBody>
      </p:sp>
      <p:sp>
        <p:nvSpPr>
          <p:cNvPr id="38" name="dj-row-1-rule">
            <a:extLst xmlns:a="http://schemas.openxmlformats.org/drawingml/2006/main">
              <a:ext uri="{FF2B5EF4-FFF2-40B4-BE49-F238E27FC236}">
                <a16:creationId xmlns:a16="http://schemas.microsoft.com/office/drawing/2014/main" id="{49B82B07-8832-4515-9EB8-7B8DC7C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6717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39" name="dj-row-1-label">
            <a:extLst xmlns:a="http://schemas.openxmlformats.org/drawingml/2006/main">
              <a:ext uri="{FF2B5EF4-FFF2-40B4-BE49-F238E27FC236}">
                <a16:creationId xmlns:a16="http://schemas.microsoft.com/office/drawing/2014/main" id="{059800E4-C7C3-413A-A0F9-2B08B6D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62425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Escala</a:t>
            </a:r>
          </a:p>
        </p:txBody>
      </p:sp>
      <p:sp>
        <p:nvSpPr>
          <p:cNvPr id="40" name="dj-row-1-value">
            <a:extLst xmlns:a="http://schemas.openxmlformats.org/drawingml/2006/main">
              <a:ext uri="{FF2B5EF4-FFF2-40B4-BE49-F238E27FC236}">
                <a16:creationId xmlns:a16="http://schemas.microsoft.com/office/drawing/2014/main" id="{59694530-9D94-44EC-B9BA-C1F2713F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62425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masiva</a:t>
            </a:r>
          </a:p>
        </p:txBody>
      </p:sp>
      <p:sp>
        <p:nvSpPr>
          <p:cNvPr id="41" name="dj-row-2-rule">
            <a:extLst xmlns:a="http://schemas.openxmlformats.org/drawingml/2006/main">
              <a:ext uri="{FF2B5EF4-FFF2-40B4-BE49-F238E27FC236}">
                <a16:creationId xmlns:a16="http://schemas.microsoft.com/office/drawing/2014/main" id="{374334D3-33D6-4498-8F3F-A6329D27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910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42" name="dj-row-2-label">
            <a:extLst xmlns:a="http://schemas.openxmlformats.org/drawingml/2006/main">
              <a:ext uri="{FF2B5EF4-FFF2-40B4-BE49-F238E27FC236}">
                <a16:creationId xmlns:a16="http://schemas.microsoft.com/office/drawing/2014/main" id="{E07770C2-E057-4374-8F16-D835FBA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863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Narrativa</a:t>
            </a:r>
          </a:p>
        </p:txBody>
      </p:sp>
      <p:sp>
        <p:nvSpPr>
          <p:cNvPr id="43" name="dj-row-2-value">
            <a:extLst xmlns:a="http://schemas.openxmlformats.org/drawingml/2006/main">
              <a:ext uri="{FF2B5EF4-FFF2-40B4-BE49-F238E27FC236}">
                <a16:creationId xmlns:a16="http://schemas.microsoft.com/office/drawing/2014/main" id="{600A69C7-2686-4304-BAD8-ED49ADA6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8630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dinámica</a:t>
            </a:r>
          </a:p>
        </p:txBody>
      </p:sp>
      <p:sp>
        <p:nvSpPr>
          <p:cNvPr id="44" name="comparison-conclusion">
            <a:extLst xmlns:a="http://schemas.openxmlformats.org/drawingml/2006/main">
              <a:ext uri="{FF2B5EF4-FFF2-40B4-BE49-F238E27FC236}">
                <a16:creationId xmlns:a16="http://schemas.microsoft.com/office/drawing/2014/main" id="{4DAE2611-0336-4220-B09C-A82EE9F8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8915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Uso innovador de técnicas existentes: la arquitectura crea un servicio nuevo.</a:t>
            </a:r>
          </a:p>
        </p:txBody>
      </p:sp>
      <p:sp>
        <p:nvSpPr>
          <p:cNvPr id="45" name="footer-05-rule">
            <a:extLst xmlns:a="http://schemas.openxmlformats.org/drawingml/2006/main">
              <a:ext uri="{FF2B5EF4-FFF2-40B4-BE49-F238E27FC236}">
                <a16:creationId xmlns:a16="http://schemas.microsoft.com/office/drawing/2014/main" id="{A716B463-7AA2-4645-9250-577BDCE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46" name="footer-05-source">
            <a:extLst xmlns:a="http://schemas.openxmlformats.org/drawingml/2006/main">
              <a:ext uri="{FF2B5EF4-FFF2-40B4-BE49-F238E27FC236}">
                <a16:creationId xmlns:a16="http://schemas.microsoft.com/office/drawing/2014/main" id="{247CF8DE-22AF-4D5C-8783-0E5050B6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Fuente: análisis del trabajo entregado</a:t>
            </a:r>
          </a:p>
        </p:txBody>
      </p:sp>
      <p:sp>
        <p:nvSpPr>
          <p:cNvPr id="47" name="footer-05-page">
            <a:extLst xmlns:a="http://schemas.openxmlformats.org/drawingml/2006/main">
              <a:ext uri="{FF2B5EF4-FFF2-40B4-BE49-F238E27FC236}">
                <a16:creationId xmlns:a16="http://schemas.microsoft.com/office/drawing/2014/main" id="{E1387DF1-C66C-40DA-9321-43C49A9E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80596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4667441-2568-4421-AB2C-22B3269E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C"/>
          </a:solidFill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A6217066-343A-48C5-8684-308C38DB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D79D5F2-47B1-4468-B053-94BB242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IMPACTO EN LA EMPRESA</a:t>
            </a:r>
          </a:p>
        </p:txBody>
      </p:sp>
      <p:sp>
        <p:nvSpPr>
          <p:cNvPr id="4" name="title-06">
            <a:extLst xmlns:a="http://schemas.openxmlformats.org/drawingml/2006/main">
              <a:ext uri="{FF2B5EF4-FFF2-40B4-BE49-F238E27FC236}">
                <a16:creationId xmlns:a16="http://schemas.microsoft.com/office/drawing/2014/main" id="{AD326584-FC89-4E46-A540-2E1CF791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La experiencia refuerza un volante de datos difícil de replicar.</a:t>
            </a:r>
          </a:p>
        </p:txBody>
      </p:sp>
      <p:sp>
        <p:nvSpPr>
          <p:cNvPr id="5" name="listen-panel">
            <a:extLst xmlns:a="http://schemas.openxmlformats.org/drawingml/2006/main">
              <a:ext uri="{FF2B5EF4-FFF2-40B4-BE49-F238E27FC236}">
                <a16:creationId xmlns:a16="http://schemas.microsoft.com/office/drawing/2014/main" id="{561268B3-92FF-4980-AC0E-C513B9E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0500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6" name="listen-accent">
            <a:extLst xmlns:a="http://schemas.openxmlformats.org/drawingml/2006/main">
              <a:ext uri="{FF2B5EF4-FFF2-40B4-BE49-F238E27FC236}">
                <a16:creationId xmlns:a16="http://schemas.microsoft.com/office/drawing/2014/main" id="{E4D98DC4-E238-4E08-8CB6-8AB559DE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05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7" name="listen-heading">
            <a:extLst xmlns:a="http://schemas.openxmlformats.org/drawingml/2006/main">
              <a:ext uri="{FF2B5EF4-FFF2-40B4-BE49-F238E27FC236}">
                <a16:creationId xmlns:a16="http://schemas.microsoft.com/office/drawing/2014/main" id="{C6FC96AD-AD4D-429B-8288-7FECD1D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1. Más escucha</a:t>
            </a:r>
          </a:p>
        </p:txBody>
      </p:sp>
      <p:sp>
        <p:nvSpPr>
          <p:cNvPr id="8" name="listen-body">
            <a:extLst xmlns:a="http://schemas.openxmlformats.org/drawingml/2006/main">
              <a:ext uri="{FF2B5EF4-FFF2-40B4-BE49-F238E27FC236}">
                <a16:creationId xmlns:a16="http://schemas.microsoft.com/office/drawing/2014/main" id="{CFFD2332-0480-405E-8D0D-C9F5F021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31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Sesiones guiadas y pasivas</a:t>
            </a:r>
          </a:p>
        </p:txBody>
      </p:sp>
      <p:sp>
        <p:nvSpPr>
          <p:cNvPr id="9" name="feedback-panel">
            <a:extLst xmlns:a="http://schemas.openxmlformats.org/drawingml/2006/main">
              <a:ext uri="{FF2B5EF4-FFF2-40B4-BE49-F238E27FC236}">
                <a16:creationId xmlns:a16="http://schemas.microsoft.com/office/drawing/2014/main" id="{F879237C-321B-424A-A2B9-427BD04A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0" name="feedback-accent">
            <a:extLst xmlns:a="http://schemas.openxmlformats.org/drawingml/2006/main">
              <a:ext uri="{FF2B5EF4-FFF2-40B4-BE49-F238E27FC236}">
                <a16:creationId xmlns:a16="http://schemas.microsoft.com/office/drawing/2014/main" id="{B48D997C-44B6-4AC4-87A1-0B41AB93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8FF"/>
          </a:solidFill>
        </p:spPr>
      </p:sp>
      <p:sp>
        <p:nvSpPr>
          <p:cNvPr id="11" name="feedback-heading">
            <a:extLst xmlns:a="http://schemas.openxmlformats.org/drawingml/2006/main">
              <a:ext uri="{FF2B5EF4-FFF2-40B4-BE49-F238E27FC236}">
                <a16:creationId xmlns:a16="http://schemas.microsoft.com/office/drawing/2014/main" id="{A87DF040-0203-43BA-BD34-4E0E5231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2. Más feedback</a:t>
            </a:r>
          </a:p>
        </p:txBody>
      </p:sp>
      <p:sp>
        <p:nvSpPr>
          <p:cNvPr id="12" name="feedback-body">
            <a:extLst xmlns:a="http://schemas.openxmlformats.org/drawingml/2006/main">
              <a:ext uri="{FF2B5EF4-FFF2-40B4-BE49-F238E27FC236}">
                <a16:creationId xmlns:a16="http://schemas.microsoft.com/office/drawing/2014/main" id="{A2EF6F8D-EFB5-4367-8503-9EB96B6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Vibe, skips y preferencias</a:t>
            </a:r>
          </a:p>
        </p:txBody>
      </p:sp>
      <p:sp>
        <p:nvSpPr>
          <p:cNvPr id="13" name="quality-panel">
            <a:extLst xmlns:a="http://schemas.openxmlformats.org/drawingml/2006/main">
              <a:ext uri="{FF2B5EF4-FFF2-40B4-BE49-F238E27FC236}">
                <a16:creationId xmlns:a16="http://schemas.microsoft.com/office/drawing/2014/main" id="{EC3994E1-D214-4691-AD7B-BAD8247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8630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4" name="quality-accent">
            <a:extLst xmlns:a="http://schemas.openxmlformats.org/drawingml/2006/main">
              <a:ext uri="{FF2B5EF4-FFF2-40B4-BE49-F238E27FC236}">
                <a16:creationId xmlns:a16="http://schemas.microsoft.com/office/drawing/2014/main" id="{56A701F2-E1BE-40F2-89D5-79685A85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863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57"/>
          </a:solidFill>
        </p:spPr>
      </p:sp>
      <p:sp>
        <p:nvSpPr>
          <p:cNvPr id="15" name="quality-heading">
            <a:extLst xmlns:a="http://schemas.openxmlformats.org/drawingml/2006/main">
              <a:ext uri="{FF2B5EF4-FFF2-40B4-BE49-F238E27FC236}">
                <a16:creationId xmlns:a16="http://schemas.microsoft.com/office/drawing/2014/main" id="{AE95865E-0457-4C67-845D-2020C651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29175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31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3. Mejor recomendación</a:t>
            </a:r>
          </a:p>
        </p:txBody>
      </p:sp>
      <p:sp>
        <p:nvSpPr>
          <p:cNvPr id="16" name="quality-body">
            <a:extLst xmlns:a="http://schemas.openxmlformats.org/drawingml/2006/main">
              <a:ext uri="{FF2B5EF4-FFF2-40B4-BE49-F238E27FC236}">
                <a16:creationId xmlns:a16="http://schemas.microsoft.com/office/drawing/2014/main" id="{D08BFE63-AC4A-4B59-8A20-6DCF4287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Se afina la personalización</a:t>
            </a:r>
          </a:p>
        </p:txBody>
      </p:sp>
      <p:sp>
        <p:nvSpPr>
          <p:cNvPr id="17" name="retention-panel">
            <a:extLst xmlns:a="http://schemas.openxmlformats.org/drawingml/2006/main">
              <a:ext uri="{FF2B5EF4-FFF2-40B4-BE49-F238E27FC236}">
                <a16:creationId xmlns:a16="http://schemas.microsoft.com/office/drawing/2014/main" id="{691AEE1E-242D-49FD-A6A2-A524DC2A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21513"/>
          </a:solidFill>
          <a:ln xmlns:a="http://schemas.openxmlformats.org/drawingml/2006/main" w="9525">
            <a:solidFill>
              <a:srgbClr val="2B332F"/>
            </a:solidFill>
            <a:prstDash val="solid"/>
          </a:ln>
        </p:spPr>
      </p:sp>
      <p:sp>
        <p:nvSpPr>
          <p:cNvPr id="18" name="retention-accent">
            <a:extLst xmlns:a="http://schemas.openxmlformats.org/drawingml/2006/main">
              <a:ext uri="{FF2B5EF4-FFF2-40B4-BE49-F238E27FC236}">
                <a16:creationId xmlns:a16="http://schemas.microsoft.com/office/drawing/2014/main" id="{A4575C1B-B072-4ABB-A42A-EAAC45A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19" name="retention-heading">
            <a:extLst xmlns:a="http://schemas.openxmlformats.org/drawingml/2006/main">
              <a:ext uri="{FF2B5EF4-FFF2-40B4-BE49-F238E27FC236}">
                <a16:creationId xmlns:a16="http://schemas.microsoft.com/office/drawing/2014/main" id="{30F85BA9-521E-4A13-A616-1BAE1DA3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1733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4. Más engagement</a:t>
            </a:r>
          </a:p>
        </p:txBody>
      </p:sp>
      <p:sp>
        <p:nvSpPr>
          <p:cNvPr id="20" name="retention-body">
            <a:extLst xmlns:a="http://schemas.openxmlformats.org/drawingml/2006/main">
              <a:ext uri="{FF2B5EF4-FFF2-40B4-BE49-F238E27FC236}">
                <a16:creationId xmlns:a16="http://schemas.microsoft.com/office/drawing/2014/main" id="{C0A79148-3FC1-439F-83A8-5DD1DB12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Valor añadido y retorno</a:t>
            </a:r>
          </a:p>
        </p:txBody>
      </p:sp>
      <p:sp>
        <p:nvSpPr>
          <p:cNvPr id="21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EDF5B68C-D1FA-4329-A955-A65C9BA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5600"/>
            <a:ext cx="457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347D2AB6-DAE6-45F9-B75C-F7304321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457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↓</a:t>
            </a:r>
          </a:p>
        </p:txBody>
      </p:sp>
      <p:sp>
        <p:nvSpPr>
          <p:cNvPr id="23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E63590BD-32F5-417F-BCC5-40CAD48C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457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←</a:t>
            </a:r>
          </a:p>
        </p:txBody>
      </p:sp>
      <p:sp>
        <p:nvSpPr>
          <p:cNvPr id="24" name="loop-arrow-4">
            <a:extLst xmlns:a="http://schemas.openxmlformats.org/drawingml/2006/main">
              <a:ext uri="{FF2B5EF4-FFF2-40B4-BE49-F238E27FC236}">
                <a16:creationId xmlns:a16="http://schemas.microsoft.com/office/drawing/2014/main" id="{4D53FAED-80C2-4744-AB01-C2C3E9E7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457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↑</a:t>
            </a:r>
          </a:p>
        </p:txBody>
      </p:sp>
      <p:sp>
        <p:nvSpPr>
          <p:cNvPr id="25" name="flywheel-center">
            <a:extLst xmlns:a="http://schemas.openxmlformats.org/drawingml/2006/main">
              <a:ext uri="{FF2B5EF4-FFF2-40B4-BE49-F238E27FC236}">
                <a16:creationId xmlns:a16="http://schemas.microsoft.com/office/drawing/2014/main" id="{A5B62092-C507-4CFC-A54C-A67D9DBE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051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D35"/>
          </a:solidFill>
        </p:spPr>
      </p:sp>
      <p:sp>
        <p:nvSpPr>
          <p:cNvPr id="26" name="flywheel-center-label">
            <a:extLst xmlns:a="http://schemas.openxmlformats.org/drawingml/2006/main">
              <a:ext uri="{FF2B5EF4-FFF2-40B4-BE49-F238E27FC236}">
                <a16:creationId xmlns:a16="http://schemas.microsoft.com/office/drawing/2014/main" id="{BCDFEA1F-536D-4064-9276-A0C09D1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118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DATA FLYWHEEL</a:t>
            </a:r>
          </a:p>
        </p:txBody>
      </p:sp>
      <p:sp>
        <p:nvSpPr>
          <p:cNvPr id="27" name="metric-rail">
            <a:extLst xmlns:a="http://schemas.openxmlformats.org/drawingml/2006/main">
              <a:ext uri="{FF2B5EF4-FFF2-40B4-BE49-F238E27FC236}">
                <a16:creationId xmlns:a16="http://schemas.microsoft.com/office/drawing/2014/main" id="{9AF65CF7-B36B-4081-8FEF-4F81285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95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28" name="reach-value">
            <a:extLst xmlns:a="http://schemas.openxmlformats.org/drawingml/2006/main">
              <a:ext uri="{FF2B5EF4-FFF2-40B4-BE49-F238E27FC236}">
                <a16:creationId xmlns:a16="http://schemas.microsoft.com/office/drawing/2014/main" id="{6CA21C1B-ACDD-49CB-A87D-B733CC8E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45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225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94 M</a:t>
            </a:r>
          </a:p>
        </p:txBody>
      </p:sp>
      <p:sp>
        <p:nvSpPr>
          <p:cNvPr id="29" name="reach-label">
            <a:extLst xmlns:a="http://schemas.openxmlformats.org/drawingml/2006/main">
              <a:ext uri="{FF2B5EF4-FFF2-40B4-BE49-F238E27FC236}">
                <a16:creationId xmlns:a16="http://schemas.microsoft.com/office/drawing/2014/main" id="{E596D74D-756C-49F8-B1FF-5339A476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usuarios Premium</a:t>
            </a:r>
          </a:p>
        </p:txBody>
      </p:sp>
      <p:sp>
        <p:nvSpPr>
          <p:cNvPr id="30" name="reach-detail">
            <a:extLst xmlns:a="http://schemas.openxmlformats.org/drawingml/2006/main">
              <a:ext uri="{FF2B5EF4-FFF2-40B4-BE49-F238E27FC236}">
                <a16:creationId xmlns:a16="http://schemas.microsoft.com/office/drawing/2014/main" id="{E5F076EC-C079-43A4-ABC3-38F1689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33700"/>
            <a:ext cx="2590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alcanzados por DJ (beta) desde 2023</a:t>
            </a:r>
          </a:p>
        </p:txBody>
      </p:sp>
      <p:sp>
        <p:nvSpPr>
          <p:cNvPr id="31" name="markets-value">
            <a:extLst xmlns:a="http://schemas.openxmlformats.org/drawingml/2006/main">
              <a:ext uri="{FF2B5EF4-FFF2-40B4-BE49-F238E27FC236}">
                <a16:creationId xmlns:a16="http://schemas.microsoft.com/office/drawing/2014/main" id="{0D4F3058-42F5-4DF1-8378-0A38AEE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245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225" b="1" i="0">
                <a:solidFill>
                  <a:srgbClr val="57B8FF"/>
                </a:solidFill>
                <a:latin typeface="Arial"/>
                <a:ea typeface="Arial"/>
                <a:cs typeface="Arial"/>
              </a:defRPr>
            </a:pPr>
            <a:r>
              <a:t>&gt;75</a:t>
            </a:r>
          </a:p>
        </p:txBody>
      </p:sp>
      <p:sp>
        <p:nvSpPr>
          <p:cNvPr id="32" name="markets-label">
            <a:extLst xmlns:a="http://schemas.openxmlformats.org/drawingml/2006/main">
              <a:ext uri="{FF2B5EF4-FFF2-40B4-BE49-F238E27FC236}">
                <a16:creationId xmlns:a16="http://schemas.microsoft.com/office/drawing/2014/main" id="{E68186BF-EC0A-4DA8-865D-35AC3646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mercados</a:t>
            </a:r>
          </a:p>
        </p:txBody>
      </p:sp>
      <p:sp>
        <p:nvSpPr>
          <p:cNvPr id="33" name="markets-detail">
            <a:extLst xmlns:a="http://schemas.openxmlformats.org/drawingml/2006/main">
              <a:ext uri="{FF2B5EF4-FFF2-40B4-BE49-F238E27FC236}">
                <a16:creationId xmlns:a16="http://schemas.microsoft.com/office/drawing/2014/main" id="{EE1E60AB-9B8C-476F-AF32-41B0F187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2590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expansión comunicada el 7 may 2026</a:t>
            </a:r>
          </a:p>
        </p:txBody>
      </p:sp>
      <p:sp>
        <p:nvSpPr>
          <p:cNvPr id="34" name="time-value">
            <a:extLst xmlns:a="http://schemas.openxmlformats.org/drawingml/2006/main">
              <a:ext uri="{FF2B5EF4-FFF2-40B4-BE49-F238E27FC236}">
                <a16:creationId xmlns:a16="http://schemas.microsoft.com/office/drawing/2014/main" id="{B68A36F7-3C86-4889-B792-F356DB61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45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225" b="1" i="0">
                <a:solidFill>
                  <a:srgbClr val="FFB657"/>
                </a:solidFill>
                <a:latin typeface="Arial"/>
                <a:ea typeface="Arial"/>
                <a:cs typeface="Arial"/>
              </a:defRPr>
            </a:pPr>
            <a:r>
              <a:t>25%</a:t>
            </a:r>
          </a:p>
        </p:txBody>
      </p:sp>
      <p:sp>
        <p:nvSpPr>
          <p:cNvPr id="35" name="time-label">
            <a:extLst xmlns:a="http://schemas.openxmlformats.org/drawingml/2006/main">
              <a:ext uri="{FF2B5EF4-FFF2-40B4-BE49-F238E27FC236}">
                <a16:creationId xmlns:a16="http://schemas.microsoft.com/office/drawing/2014/main" id="{56D8DA1B-EAF1-485D-B149-302ED42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del tiempo de escucha</a:t>
            </a:r>
          </a:p>
        </p:txBody>
      </p:sp>
      <p:sp>
        <p:nvSpPr>
          <p:cNvPr id="36" name="time-detail">
            <a:extLst xmlns:a="http://schemas.openxmlformats.org/drawingml/2006/main">
              <a:ext uri="{FF2B5EF4-FFF2-40B4-BE49-F238E27FC236}">
                <a16:creationId xmlns:a16="http://schemas.microsoft.com/office/drawing/2014/main" id="{7A33C669-5B4B-4EBB-A252-41E241A7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86400"/>
            <a:ext cx="2590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en días con DJ; beta inicial EE. UU./Canadá</a:t>
            </a:r>
          </a:p>
        </p:txBody>
      </p:sp>
      <p:sp>
        <p:nvSpPr>
          <p:cNvPr id="37" name="footer-06-rule">
            <a:extLst xmlns:a="http://schemas.openxmlformats.org/drawingml/2006/main">
              <a:ext uri="{FF2B5EF4-FFF2-40B4-BE49-F238E27FC236}">
                <a16:creationId xmlns:a16="http://schemas.microsoft.com/office/drawing/2014/main" id="{F2F74E2D-40E1-463A-BDCA-506A005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38" name="footer-06-source">
            <a:extLst xmlns:a="http://schemas.openxmlformats.org/drawingml/2006/main">
              <a:ext uri="{FF2B5EF4-FFF2-40B4-BE49-F238E27FC236}">
                <a16:creationId xmlns:a16="http://schemas.microsoft.com/office/drawing/2014/main" id="{3431C43B-6ACE-46C0-BFF9-F026DEB2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Fuente: Spotify Newsroom, 8 mar 2023 y 7 may 2026</a:t>
            </a:r>
          </a:p>
        </p:txBody>
      </p:sp>
      <p:sp>
        <p:nvSpPr>
          <p:cNvPr id="39" name="footer-06-page">
            <a:extLst xmlns:a="http://schemas.openxmlformats.org/drawingml/2006/main">
              <a:ext uri="{FF2B5EF4-FFF2-40B4-BE49-F238E27FC236}">
                <a16:creationId xmlns:a16="http://schemas.microsoft.com/office/drawing/2014/main" id="{2E802428-4F40-4FDD-B60E-C20B212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63444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342A4AD-852E-425F-B22A-7C9CBA7F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C"/>
          </a:solidFill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2F471F4-1DBF-4E38-8210-96DA917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03E3DAC3-A20F-44D3-9D5D-95B793D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71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D760"/>
                </a:solidFill>
                <a:latin typeface="Arial Narrow"/>
                <a:ea typeface="Arial Narrow"/>
                <a:cs typeface="Arial Narrow"/>
              </a:defRPr>
            </a:pPr>
            <a:r>
              <a:t>IMPACTO Y CIERRE</a:t>
            </a:r>
          </a:p>
        </p:txBody>
      </p:sp>
      <p:sp>
        <p:nvSpPr>
          <p:cNvPr id="4" name="title-07">
            <a:extLst xmlns:a="http://schemas.openxmlformats.org/drawingml/2006/main">
              <a:ext uri="{FF2B5EF4-FFF2-40B4-BE49-F238E27FC236}">
                <a16:creationId xmlns:a16="http://schemas.microsoft.com/office/drawing/2014/main" id="{8B0CCFF8-024F-4D61-9E49-7D033CE4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El mismo nivel de personalización que aporta valor concentra los riesgos.</a:t>
            </a:r>
          </a:p>
        </p:txBody>
      </p:sp>
      <p:sp>
        <p:nvSpPr>
          <p:cNvPr id="5" name="benefits-topline">
            <a:extLst xmlns:a="http://schemas.openxmlformats.org/drawingml/2006/main">
              <a:ext uri="{FF2B5EF4-FFF2-40B4-BE49-F238E27FC236}">
                <a16:creationId xmlns:a16="http://schemas.microsoft.com/office/drawing/2014/main" id="{12B10233-716B-40EB-80FD-CB6514D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3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6" name="benefits-heading">
            <a:extLst xmlns:a="http://schemas.openxmlformats.org/drawingml/2006/main">
              <a:ext uri="{FF2B5EF4-FFF2-40B4-BE49-F238E27FC236}">
                <a16:creationId xmlns:a16="http://schemas.microsoft.com/office/drawing/2014/main" id="{4F6D7D61-1574-44FC-AAC8-23025CA5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933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Lo que aporta</a:t>
            </a:r>
          </a:p>
        </p:txBody>
      </p:sp>
      <p:sp>
        <p:nvSpPr>
          <p:cNvPr id="7" name="benefits-0-marker">
            <a:extLst xmlns:a="http://schemas.openxmlformats.org/drawingml/2006/main">
              <a:ext uri="{FF2B5EF4-FFF2-40B4-BE49-F238E27FC236}">
                <a16:creationId xmlns:a16="http://schemas.microsoft.com/office/drawing/2014/main" id="{E57F3107-5E8A-4C7F-9B8F-0221DA0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8" name="benefits-0-title">
            <a:extLst xmlns:a="http://schemas.openxmlformats.org/drawingml/2006/main">
              <a:ext uri="{FF2B5EF4-FFF2-40B4-BE49-F238E27FC236}">
                <a16:creationId xmlns:a16="http://schemas.microsoft.com/office/drawing/2014/main" id="{941CCF70-6037-459D-A40A-9BC9C49D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476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Menos fatiga de decisión</a:t>
            </a:r>
          </a:p>
        </p:txBody>
      </p:sp>
      <p:sp>
        <p:nvSpPr>
          <p:cNvPr id="9" name="benefits-0-body">
            <a:extLst xmlns:a="http://schemas.openxmlformats.org/drawingml/2006/main">
              <a:ext uri="{FF2B5EF4-FFF2-40B4-BE49-F238E27FC236}">
                <a16:creationId xmlns:a16="http://schemas.microsoft.com/office/drawing/2014/main" id="{EC8A9A6A-80F7-412E-BF92-F29715DD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4476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Reduce el esfuerzo de elegir qué escuchar.</a:t>
            </a:r>
          </a:p>
        </p:txBody>
      </p:sp>
      <p:sp>
        <p:nvSpPr>
          <p:cNvPr id="10" name="benefits-1-marker">
            <a:extLst xmlns:a="http://schemas.openxmlformats.org/drawingml/2006/main">
              <a:ext uri="{FF2B5EF4-FFF2-40B4-BE49-F238E27FC236}">
                <a16:creationId xmlns:a16="http://schemas.microsoft.com/office/drawing/2014/main" id="{3D141EB9-7EDD-40C8-B38A-DEBE80C1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11" name="benefits-1-title">
            <a:extLst xmlns:a="http://schemas.openxmlformats.org/drawingml/2006/main">
              <a:ext uri="{FF2B5EF4-FFF2-40B4-BE49-F238E27FC236}">
                <a16:creationId xmlns:a16="http://schemas.microsoft.com/office/drawing/2014/main" id="{34442F31-F850-4309-A8FB-4535567F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476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Descubrimiento con contexto</a:t>
            </a:r>
          </a:p>
        </p:txBody>
      </p:sp>
      <p:sp>
        <p:nvSpPr>
          <p:cNvPr id="12" name="benefits-1-body">
            <a:extLst xmlns:a="http://schemas.openxmlformats.org/drawingml/2006/main">
              <a:ext uri="{FF2B5EF4-FFF2-40B4-BE49-F238E27FC236}">
                <a16:creationId xmlns:a16="http://schemas.microsoft.com/office/drawing/2014/main" id="{7638ACEA-5565-47EC-930E-317E132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476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La narración ayuda a probar canciones nuevas.</a:t>
            </a:r>
          </a:p>
        </p:txBody>
      </p:sp>
      <p:sp>
        <p:nvSpPr>
          <p:cNvPr id="13" name="benefits-2-marker">
            <a:extLst xmlns:a="http://schemas.openxmlformats.org/drawingml/2006/main">
              <a:ext uri="{FF2B5EF4-FFF2-40B4-BE49-F238E27FC236}">
                <a16:creationId xmlns:a16="http://schemas.microsoft.com/office/drawing/2014/main" id="{610EA289-728B-40A1-BAC3-8A9ECFB2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</p:spPr>
      </p:sp>
      <p:sp>
        <p:nvSpPr>
          <p:cNvPr id="14" name="benefits-2-title">
            <a:extLst xmlns:a="http://schemas.openxmlformats.org/drawingml/2006/main">
              <a:ext uri="{FF2B5EF4-FFF2-40B4-BE49-F238E27FC236}">
                <a16:creationId xmlns:a16="http://schemas.microsoft.com/office/drawing/2014/main" id="{C0640E80-264D-4315-806C-1D3A19F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4476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Una experiencia más cercana</a:t>
            </a:r>
          </a:p>
        </p:txBody>
      </p:sp>
      <p:sp>
        <p:nvSpPr>
          <p:cNvPr id="15" name="benefits-2-body">
            <a:extLst xmlns:a="http://schemas.openxmlformats.org/drawingml/2006/main">
              <a:ext uri="{FF2B5EF4-FFF2-40B4-BE49-F238E27FC236}">
                <a16:creationId xmlns:a16="http://schemas.microsoft.com/office/drawing/2014/main" id="{24C92D14-7F01-4032-97B1-7DBD0D30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4476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La voz introduce compañía y continuidad.</a:t>
            </a:r>
          </a:p>
        </p:txBody>
      </p:sp>
      <p:sp>
        <p:nvSpPr>
          <p:cNvPr id="16" name="middle-divider">
            <a:extLst xmlns:a="http://schemas.openxmlformats.org/drawingml/2006/main">
              <a:ext uri="{FF2B5EF4-FFF2-40B4-BE49-F238E27FC236}">
                <a16:creationId xmlns:a16="http://schemas.microsoft.com/office/drawing/2014/main" id="{BB87DA19-29ED-4DC8-B64C-7E729D5A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952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17" name="risks-topline">
            <a:extLst xmlns:a="http://schemas.openxmlformats.org/drawingml/2006/main">
              <a:ext uri="{FF2B5EF4-FFF2-40B4-BE49-F238E27FC236}">
                <a16:creationId xmlns:a16="http://schemas.microsoft.com/office/drawing/2014/main" id="{FB0969C0-7C51-409A-BFBF-C0C32B13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3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7A"/>
          </a:solidFill>
        </p:spPr>
      </p:sp>
      <p:sp>
        <p:nvSpPr>
          <p:cNvPr id="18" name="risks-heading">
            <a:extLst xmlns:a="http://schemas.openxmlformats.org/drawingml/2006/main">
              <a:ext uri="{FF2B5EF4-FFF2-40B4-BE49-F238E27FC236}">
                <a16:creationId xmlns:a16="http://schemas.microsoft.com/office/drawing/2014/main" id="{0887FDEC-E8F8-45C2-A202-622D88E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933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8C7A"/>
                </a:solidFill>
                <a:latin typeface="Arial"/>
                <a:ea typeface="Arial"/>
                <a:cs typeface="Arial"/>
              </a:defRPr>
            </a:pPr>
            <a:r>
              <a:t>Lo que exige vigilar</a:t>
            </a:r>
          </a:p>
        </p:txBody>
      </p:sp>
      <p:sp>
        <p:nvSpPr>
          <p:cNvPr id="19" name="risks-0-marker">
            <a:extLst xmlns:a="http://schemas.openxmlformats.org/drawingml/2006/main">
              <a:ext uri="{FF2B5EF4-FFF2-40B4-BE49-F238E27FC236}">
                <a16:creationId xmlns:a16="http://schemas.microsoft.com/office/drawing/2014/main" id="{28BA621D-EC4F-4D2A-A47D-061CB672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05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7A"/>
          </a:solidFill>
        </p:spPr>
      </p:sp>
      <p:sp>
        <p:nvSpPr>
          <p:cNvPr id="20" name="risks-0-title">
            <a:extLst xmlns:a="http://schemas.openxmlformats.org/drawingml/2006/main">
              <a:ext uri="{FF2B5EF4-FFF2-40B4-BE49-F238E27FC236}">
                <a16:creationId xmlns:a16="http://schemas.microsoft.com/office/drawing/2014/main" id="{2C151D33-6668-4C8B-B4A3-D2ED8B31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4476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Privacidad</a:t>
            </a:r>
          </a:p>
        </p:txBody>
      </p:sp>
      <p:sp>
        <p:nvSpPr>
          <p:cNvPr id="21" name="risks-0-body">
            <a:extLst xmlns:a="http://schemas.openxmlformats.org/drawingml/2006/main">
              <a:ext uri="{FF2B5EF4-FFF2-40B4-BE49-F238E27FC236}">
                <a16:creationId xmlns:a16="http://schemas.microsoft.com/office/drawing/2014/main" id="{8C8FD40F-8701-4070-B0EA-2148AF5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4476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La familiaridad depende de hábitos muy personales.</a:t>
            </a:r>
          </a:p>
        </p:txBody>
      </p:sp>
      <p:sp>
        <p:nvSpPr>
          <p:cNvPr id="22" name="risks-1-marker">
            <a:extLst xmlns:a="http://schemas.openxmlformats.org/drawingml/2006/main">
              <a:ext uri="{FF2B5EF4-FFF2-40B4-BE49-F238E27FC236}">
                <a16:creationId xmlns:a16="http://schemas.microsoft.com/office/drawing/2014/main" id="{C59E1174-B375-4874-8334-A73856E2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7A"/>
          </a:solidFill>
        </p:spPr>
      </p:sp>
      <p:sp>
        <p:nvSpPr>
          <p:cNvPr id="23" name="risks-1-title">
            <a:extLst xmlns:a="http://schemas.openxmlformats.org/drawingml/2006/main">
              <a:ext uri="{FF2B5EF4-FFF2-40B4-BE49-F238E27FC236}">
                <a16:creationId xmlns:a16="http://schemas.microsoft.com/office/drawing/2014/main" id="{6191CA28-4D1D-4761-8868-160876A5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476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Cámara de eco cultural</a:t>
            </a:r>
          </a:p>
        </p:txBody>
      </p:sp>
      <p:sp>
        <p:nvSpPr>
          <p:cNvPr id="24" name="risks-1-body">
            <a:extLst xmlns:a="http://schemas.openxmlformats.org/drawingml/2006/main">
              <a:ext uri="{FF2B5EF4-FFF2-40B4-BE49-F238E27FC236}">
                <a16:creationId xmlns:a16="http://schemas.microsoft.com/office/drawing/2014/main" id="{822FE0CF-0C3D-4A49-984C-DDA532F7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67200"/>
            <a:ext cx="4476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Optimizar retención puede estrechar el gusto.</a:t>
            </a:r>
          </a:p>
        </p:txBody>
      </p:sp>
      <p:sp>
        <p:nvSpPr>
          <p:cNvPr id="25" name="risks-2-marker">
            <a:extLst xmlns:a="http://schemas.openxmlformats.org/drawingml/2006/main">
              <a:ext uri="{FF2B5EF4-FFF2-40B4-BE49-F238E27FC236}">
                <a16:creationId xmlns:a16="http://schemas.microsoft.com/office/drawing/2014/main" id="{C5C1FE92-5939-4AEE-9FEA-5C205EF6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7A"/>
          </a:solidFill>
        </p:spPr>
      </p:sp>
      <p:sp>
        <p:nvSpPr>
          <p:cNvPr id="26" name="risks-2-title">
            <a:extLst xmlns:a="http://schemas.openxmlformats.org/drawingml/2006/main">
              <a:ext uri="{FF2B5EF4-FFF2-40B4-BE49-F238E27FC236}">
                <a16:creationId xmlns:a16="http://schemas.microsoft.com/office/drawing/2014/main" id="{E24A0AAE-B1C4-4571-AAAC-F5444E9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4476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Alucinaciones y voz sintética</a:t>
            </a:r>
          </a:p>
        </p:txBody>
      </p:sp>
      <p:sp>
        <p:nvSpPr>
          <p:cNvPr id="27" name="risks-2-body">
            <a:extLst xmlns:a="http://schemas.openxmlformats.org/drawingml/2006/main">
              <a:ext uri="{FF2B5EF4-FFF2-40B4-BE49-F238E27FC236}">
                <a16:creationId xmlns:a16="http://schemas.microsoft.com/office/drawing/2014/main" id="{8F10865D-CD07-4FF1-BCAD-764D65F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4476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AD"/>
                </a:solidFill>
                <a:latin typeface="Arial"/>
                <a:ea typeface="Arial"/>
                <a:cs typeface="Arial"/>
              </a:defRPr>
            </a:pPr>
            <a:r>
              <a:t>Hay riesgo reputacional, legal y editorial.</a:t>
            </a:r>
          </a:p>
        </p:txBody>
      </p:sp>
      <p:sp>
        <p:nvSpPr>
          <p:cNvPr id="28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F464EDEF-3853-4A6E-BB28-D32F8073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8201C"/>
          </a:solidFill>
          <a:ln xmlns:a="http://schemas.openxmlformats.org/drawingml/2006/main" w="9525">
            <a:solidFill>
              <a:srgbClr val="1ED760"/>
            </a:solidFill>
            <a:prstDash val="solid"/>
          </a:ln>
        </p:spPr>
      </p:sp>
      <p:sp>
        <p:nvSpPr>
          <p:cNvPr id="29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670FF2A8-5DE1-4D5B-AE65-43F8BA4A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1021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Spotify DJ innova por orquestación, escala y una nueva experiencia de escucha.</a:t>
            </a:r>
          </a:p>
        </p:txBody>
      </p:sp>
      <p:sp>
        <p:nvSpPr>
          <p:cNvPr id="30" name="footer-07-rule">
            <a:extLst xmlns:a="http://schemas.openxmlformats.org/drawingml/2006/main">
              <a:ext uri="{FF2B5EF4-FFF2-40B4-BE49-F238E27FC236}">
                <a16:creationId xmlns:a16="http://schemas.microsoft.com/office/drawing/2014/main" id="{7BCB8CFF-940D-4F7D-A798-697D626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2F"/>
          </a:solidFill>
        </p:spPr>
      </p:sp>
      <p:sp>
        <p:nvSpPr>
          <p:cNvPr id="31" name="footer-07-source">
            <a:extLst xmlns:a="http://schemas.openxmlformats.org/drawingml/2006/main">
              <a:ext uri="{FF2B5EF4-FFF2-40B4-BE49-F238E27FC236}">
                <a16:creationId xmlns:a16="http://schemas.microsoft.com/office/drawing/2014/main" id="{5661FC11-5A80-4215-88F5-C971A46C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36C"/>
                </a:solidFill>
                <a:latin typeface="Arial"/>
                <a:ea typeface="Arial"/>
                <a:cs typeface="Arial"/>
              </a:defRPr>
            </a:pPr>
            <a:r>
              <a:t>Fuentes: trabajo entregado; Spotify Newsroom, 8 mar 2023</a:t>
            </a:r>
          </a:p>
        </p:txBody>
      </p:sp>
      <p:sp>
        <p:nvSpPr>
          <p:cNvPr id="32" name="footer-07-page">
            <a:extLst xmlns:a="http://schemas.openxmlformats.org/drawingml/2006/main">
              <a:ext uri="{FF2B5EF4-FFF2-40B4-BE49-F238E27FC236}">
                <a16:creationId xmlns:a16="http://schemas.microsoft.com/office/drawing/2014/main" id="{3292D408-B2CF-4CEE-A1ED-17AA5449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ED76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4032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2026-05-30T09:42:06.3090000Z</dcterms:created>
  <dcterms:modified xsi:type="dcterms:W3CDTF">2026-05-30T09:42:06.3090000Z</dcterms:modified>
</coreProperties>
</file>